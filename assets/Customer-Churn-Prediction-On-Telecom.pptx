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19"/>
  </p:notesMasterIdLst>
  <p:sldIdLst>
    <p:sldId id="257" r:id="rId2"/>
    <p:sldId id="259" r:id="rId3"/>
    <p:sldId id="260" r:id="rId4"/>
    <p:sldId id="261" r:id="rId5"/>
    <p:sldId id="263" r:id="rId6"/>
    <p:sldId id="264" r:id="rId7"/>
    <p:sldId id="266" r:id="rId8"/>
    <p:sldId id="265" r:id="rId9"/>
    <p:sldId id="268" r:id="rId10"/>
    <p:sldId id="269" r:id="rId11"/>
    <p:sldId id="270" r:id="rId12"/>
    <p:sldId id="271" r:id="rId13"/>
    <p:sldId id="272" r:id="rId14"/>
    <p:sldId id="273" r:id="rId15"/>
    <p:sldId id="274" r:id="rId16"/>
    <p:sldId id="275"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dem Sangeeth" userId="6ce79b69e2a9c6a3" providerId="LiveId" clId="{C9FE88EA-B383-43F6-9214-4E80FD0AC061}"/>
    <pc:docChg chg="undo custSel delSld modSld">
      <pc:chgData name="Kadem Sangeeth" userId="6ce79b69e2a9c6a3" providerId="LiveId" clId="{C9FE88EA-B383-43F6-9214-4E80FD0AC061}" dt="2025-12-19T00:08:36.126" v="16" actId="47"/>
      <pc:docMkLst>
        <pc:docMk/>
      </pc:docMkLst>
      <pc:sldChg chg="modSp mod">
        <pc:chgData name="Kadem Sangeeth" userId="6ce79b69e2a9c6a3" providerId="LiveId" clId="{C9FE88EA-B383-43F6-9214-4E80FD0AC061}" dt="2025-12-19T00:08:13.675" v="15" actId="6549"/>
        <pc:sldMkLst>
          <pc:docMk/>
          <pc:sldMk cId="3450614401" sldId="257"/>
        </pc:sldMkLst>
        <pc:spChg chg="mod">
          <ac:chgData name="Kadem Sangeeth" userId="6ce79b69e2a9c6a3" providerId="LiveId" clId="{C9FE88EA-B383-43F6-9214-4E80FD0AC061}" dt="2025-12-19T00:08:13.675" v="15" actId="6549"/>
          <ac:spMkLst>
            <pc:docMk/>
            <pc:sldMk cId="3450614401" sldId="257"/>
            <ac:spMk id="4" creationId="{889FE1EB-B44A-E1AF-3170-3F8C7866EC0E}"/>
          </ac:spMkLst>
        </pc:spChg>
        <pc:picChg chg="mod">
          <ac:chgData name="Kadem Sangeeth" userId="6ce79b69e2a9c6a3" providerId="LiveId" clId="{C9FE88EA-B383-43F6-9214-4E80FD0AC061}" dt="2025-12-19T00:07:53.425" v="9" actId="1076"/>
          <ac:picMkLst>
            <pc:docMk/>
            <pc:sldMk cId="3450614401" sldId="257"/>
            <ac:picMk id="46" creationId="{A2C38A7B-74B6-DD2C-63DF-1DC817E6C737}"/>
          </ac:picMkLst>
        </pc:picChg>
      </pc:sldChg>
      <pc:sldChg chg="del">
        <pc:chgData name="Kadem Sangeeth" userId="6ce79b69e2a9c6a3" providerId="LiveId" clId="{C9FE88EA-B383-43F6-9214-4E80FD0AC061}" dt="2025-12-19T00:08:36.126" v="16" actId="47"/>
        <pc:sldMkLst>
          <pc:docMk/>
          <pc:sldMk cId="1007398652"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3B77D-57C8-4938-972E-3CC6CF86E4E7}" type="datetimeFigureOut">
              <a:rPr lang="en-US" smtClean="0"/>
              <a:t>12/18/2025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08FF9-A506-4969-9DFC-F5C5A857A8CB}" type="slidenum">
              <a:rPr lang="en-US" smtClean="0"/>
              <a:t>‹#›</a:t>
            </a:fld>
            <a:endParaRPr lang="en-US"/>
          </a:p>
        </p:txBody>
      </p:sp>
    </p:spTree>
    <p:extLst>
      <p:ext uri="{BB962C8B-B14F-4D97-AF65-F5344CB8AC3E}">
        <p14:creationId xmlns:p14="http://schemas.microsoft.com/office/powerpoint/2010/main" val="607983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08FF9-A506-4969-9DFC-F5C5A857A8CB}" type="slidenum">
              <a:rPr lang="en-US" smtClean="0"/>
              <a:t>14</a:t>
            </a:fld>
            <a:endParaRPr lang="en-US"/>
          </a:p>
        </p:txBody>
      </p:sp>
    </p:spTree>
    <p:extLst>
      <p:ext uri="{BB962C8B-B14F-4D97-AF65-F5344CB8AC3E}">
        <p14:creationId xmlns:p14="http://schemas.microsoft.com/office/powerpoint/2010/main" val="464525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74834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40582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582763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951703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1B595-366B-43E2-A22E-EA6A78C03F06}"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61897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1B595-366B-43E2-A22E-EA6A78C03F06}"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765051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41B595-366B-43E2-A22E-EA6A78C03F06}"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957339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466731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396667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656270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BA915EE-10CB-4CF1-8569-6154455DA573}"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45804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912511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A915EE-10CB-4CF1-8569-6154455DA573}"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89496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41427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1639581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834741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341B595-366B-43E2-A22E-EA6A78C03F06}" type="datetimeFigureOut">
              <a:rPr lang="en-US" smtClean="0"/>
              <a:t>12/18/2025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1836161153"/>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alfathterry/telco-customer-churn-11-1-3"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2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5" name="Group 2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3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9" name="Rectangle 3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1"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useBgFill="1">
        <p:nvSpPr>
          <p:cNvPr id="43" name="Rectangle 42">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C2CC47-006D-55C9-157A-FACBDCFA2BC0}"/>
              </a:ext>
            </a:extLst>
          </p:cNvPr>
          <p:cNvSpPr>
            <a:spLocks noGrp="1"/>
          </p:cNvSpPr>
          <p:nvPr>
            <p:ph type="title"/>
          </p:nvPr>
        </p:nvSpPr>
        <p:spPr>
          <a:xfrm>
            <a:off x="642259" y="184120"/>
            <a:ext cx="10537018" cy="1259894"/>
          </a:xfrm>
        </p:spPr>
        <p:txBody>
          <a:bodyPr vert="horz" lIns="91440" tIns="45720" rIns="91440" bIns="45720" rtlCol="0" anchor="t">
            <a:normAutofit fontScale="90000"/>
          </a:bodyPr>
          <a:lstStyle/>
          <a:p>
            <a:pPr marL="0" marR="0">
              <a:lnSpc>
                <a:spcPct val="115000"/>
              </a:lnSpc>
              <a:spcAft>
                <a:spcPts val="800"/>
              </a:spcAft>
            </a:pPr>
            <a:r>
              <a:rPr lang="en-US" sz="3200" b="1" kern="100" dirty="0">
                <a:effectLst/>
                <a:latin typeface="Times New Roman" panose="02020603050405020304" pitchFamily="18" charset="0"/>
                <a:ea typeface="Aptos" panose="020B0004020202020204" pitchFamily="34" charset="0"/>
                <a:cs typeface="Times New Roman" panose="02020603050405020304" pitchFamily="18" charset="0"/>
              </a:rPr>
              <a:t>TELCO CUSTOMER CHURN PREDICITION AND CLASSIFICATION ANALYSIS IN SAS EM</a:t>
            </a:r>
            <a:br>
              <a:rPr lang="en-US" sz="1800" kern="100" dirty="0">
                <a:effectLst/>
                <a:latin typeface="Aptos" panose="020B0004020202020204" pitchFamily="34" charset="0"/>
                <a:ea typeface="Aptos" panose="020B0004020202020204" pitchFamily="34" charset="0"/>
                <a:cs typeface="Times New Roman" panose="02020603050405020304" pitchFamily="18" charset="0"/>
              </a:rPr>
            </a:br>
            <a:endParaRPr lang="en-US" sz="3600" dirty="0"/>
          </a:p>
        </p:txBody>
      </p:sp>
      <p:sp>
        <p:nvSpPr>
          <p:cNvPr id="45" name="Rectangle 44">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 Placeholder 3">
            <a:extLst>
              <a:ext uri="{FF2B5EF4-FFF2-40B4-BE49-F238E27FC236}">
                <a16:creationId xmlns:a16="http://schemas.microsoft.com/office/drawing/2014/main" id="{889FE1EB-B44A-E1AF-3170-3F8C7866EC0E}"/>
              </a:ext>
            </a:extLst>
          </p:cNvPr>
          <p:cNvSpPr>
            <a:spLocks noGrp="1"/>
          </p:cNvSpPr>
          <p:nvPr>
            <p:ph type="body" sz="half" idx="2"/>
          </p:nvPr>
        </p:nvSpPr>
        <p:spPr>
          <a:xfrm>
            <a:off x="649225" y="2133600"/>
            <a:ext cx="5338620" cy="4528364"/>
          </a:xfrm>
        </p:spPr>
        <p:txBody>
          <a:bodyPr vert="horz" lIns="91440" tIns="45720" rIns="91440" bIns="45720" rtlCol="0">
            <a:normAutofit/>
          </a:bodyPr>
          <a:lstStyle/>
          <a:p>
            <a:pPr marL="0" marR="0">
              <a:lnSpc>
                <a:spcPct val="115000"/>
              </a:lnSpc>
              <a:spcAft>
                <a:spcPts val="800"/>
              </a:spcAft>
            </a:pPr>
            <a:r>
              <a:rPr lang="en-US" sz="3300" b="1" kern="100" dirty="0">
                <a:effectLst/>
                <a:latin typeface="Times New Roman" panose="02020603050405020304" pitchFamily="18" charset="0"/>
                <a:ea typeface="Aptos" panose="020B0004020202020204" pitchFamily="34" charset="0"/>
                <a:cs typeface="Times New Roman" panose="02020603050405020304" pitchFamily="18" charset="0"/>
              </a:rPr>
              <a:t>RESEARCH PROJECT</a:t>
            </a:r>
            <a:r>
              <a:rPr lang="en-US" sz="3300" b="1" kern="100" dirty="0">
                <a:latin typeface="Aptos" panose="020B0004020202020204" pitchFamily="34" charset="0"/>
                <a:ea typeface="Aptos" panose="020B0004020202020204" pitchFamily="34" charset="0"/>
                <a:cs typeface="Times New Roman" panose="02020603050405020304" pitchFamily="18" charset="0"/>
              </a:rPr>
              <a: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4200" b="1" kern="100" dirty="0">
                <a:effectLst/>
                <a:latin typeface="Times New Roman" panose="02020603050405020304" pitchFamily="18" charset="0"/>
                <a:ea typeface="Aptos" panose="020B0004020202020204" pitchFamily="34" charset="0"/>
                <a:cs typeface="Times New Roman" panose="02020603050405020304" pitchFamily="18" charset="0"/>
              </a:rPr>
              <a:t>Sangeeth Kadem</a:t>
            </a:r>
            <a:endParaRPr lang="en-US" sz="4200" b="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a:buFont typeface="Wingdings 3" charset="2"/>
              <a:buChar char=""/>
            </a:pPr>
            <a:endParaRPr lang="en-US" dirty="0"/>
          </a:p>
        </p:txBody>
      </p:sp>
      <p:sp>
        <p:nvSpPr>
          <p:cNvPr id="47"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A person in a tie running away from a churn&#10;&#10;Description automatically generated">
            <a:extLst>
              <a:ext uri="{FF2B5EF4-FFF2-40B4-BE49-F238E27FC236}">
                <a16:creationId xmlns:a16="http://schemas.microsoft.com/office/drawing/2014/main" id="{A2C38A7B-74B6-DD2C-63DF-1DC817E6C7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2427" y="2063580"/>
            <a:ext cx="5814991" cy="3799103"/>
          </a:xfrm>
          <a:prstGeom prst="rect">
            <a:avLst/>
          </a:prstGeom>
        </p:spPr>
      </p:pic>
      <p:pic>
        <p:nvPicPr>
          <p:cNvPr id="48" name="Picture 47" descr="A green and white logo&#10;&#10;Description automatically generated">
            <a:extLst>
              <a:ext uri="{FF2B5EF4-FFF2-40B4-BE49-F238E27FC236}">
                <a16:creationId xmlns:a16="http://schemas.microsoft.com/office/drawing/2014/main" id="{83DCB79B-B898-BED5-0689-F4B59F70C27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59553" y="18575"/>
            <a:ext cx="1839447" cy="739603"/>
          </a:xfrm>
          <a:prstGeom prst="rect">
            <a:avLst/>
          </a:prstGeom>
          <a:noFill/>
          <a:ln>
            <a:noFill/>
          </a:ln>
        </p:spPr>
      </p:pic>
    </p:spTree>
    <p:extLst>
      <p:ext uri="{BB962C8B-B14F-4D97-AF65-F5344CB8AC3E}">
        <p14:creationId xmlns:p14="http://schemas.microsoft.com/office/powerpoint/2010/main" val="3450614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25A15-D4EA-64B6-DE68-AE0F6D526758}"/>
              </a:ext>
            </a:extLst>
          </p:cNvPr>
          <p:cNvSpPr>
            <a:spLocks noGrp="1"/>
          </p:cNvSpPr>
          <p:nvPr>
            <p:ph type="title"/>
          </p:nvPr>
        </p:nvSpPr>
        <p:spPr>
          <a:xfrm>
            <a:off x="1433889" y="1059872"/>
            <a:ext cx="3012216" cy="4851349"/>
          </a:xfrm>
        </p:spPr>
        <p:txBody>
          <a:bodyPr>
            <a:normAutofit/>
          </a:bodyPr>
          <a:lstStyle/>
          <a:p>
            <a:r>
              <a:rPr lang="en-US">
                <a:latin typeface="Times New Roman" panose="02020603050405020304" pitchFamily="18" charset="0"/>
                <a:cs typeface="Times New Roman" panose="02020603050405020304" pitchFamily="18" charset="0"/>
              </a:rPr>
              <a:t>EXECUTIVE SUMMARY</a:t>
            </a:r>
          </a:p>
        </p:txBody>
      </p:sp>
      <p:sp>
        <p:nvSpPr>
          <p:cNvPr id="10"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076FD6B9-B884-8B65-A2D0-DB5DD6787314}"/>
              </a:ext>
            </a:extLst>
          </p:cNvPr>
          <p:cNvSpPr>
            <a:spLocks noGrp="1"/>
          </p:cNvSpPr>
          <p:nvPr>
            <p:ph idx="1"/>
          </p:nvPr>
        </p:nvSpPr>
        <p:spPr>
          <a:xfrm>
            <a:off x="4654295" y="-1"/>
            <a:ext cx="7537703" cy="6857999"/>
          </a:xfrm>
        </p:spPr>
        <p:txBody>
          <a:bodyPr>
            <a:normAutofit/>
          </a:bodyPr>
          <a:lstStyle/>
          <a:p>
            <a:pPr marL="0" indent="0" algn="just">
              <a:buNone/>
            </a:pPr>
            <a:r>
              <a:rPr lang="en-US" dirty="0">
                <a:effectLst/>
                <a:latin typeface="Times New Roman" panose="02020603050405020304" pitchFamily="18" charset="0"/>
                <a:ea typeface="Aptos" panose="020B0004020202020204" pitchFamily="34" charset="0"/>
              </a:rPr>
              <a:t>The Telco Customer Churn dataset offers an organized overview of telecommunication customer data, including factors such as customer demographics, duration of account, services used, contract information, and billing details. </a:t>
            </a:r>
          </a:p>
          <a:p>
            <a:pPr marL="0" indent="0" algn="just">
              <a:buNone/>
            </a:pPr>
            <a:r>
              <a:rPr lang="en-US" dirty="0">
                <a:latin typeface="Times New Roman" panose="02020603050405020304" pitchFamily="18" charset="0"/>
                <a:ea typeface="Aptos" panose="020B0004020202020204" pitchFamily="34" charset="0"/>
              </a:rPr>
              <a:t>This project was aimed at identifying and analyzing patterns in customer behavior, preferences etc. that will determine the likelihood of a customer to leave from the telecom industry. </a:t>
            </a:r>
          </a:p>
          <a:p>
            <a:pPr marL="0" indent="0" algn="just">
              <a:buNone/>
            </a:pPr>
            <a:r>
              <a:rPr lang="en-US" dirty="0">
                <a:effectLst/>
                <a:latin typeface="Times New Roman" panose="02020603050405020304" pitchFamily="18" charset="0"/>
                <a:ea typeface="Aptos" panose="020B0004020202020204" pitchFamily="34" charset="0"/>
              </a:rPr>
              <a:t>We explored various classification models that include Logistic regression, three types of decision trees, random forest, and neural network models in determining which factor best determines the reasons behind customer churn. </a:t>
            </a:r>
          </a:p>
          <a:p>
            <a:pPr marL="0" indent="0" algn="just">
              <a:buNone/>
            </a:pPr>
            <a:r>
              <a:rPr lang="en-US" dirty="0">
                <a:latin typeface="Times New Roman" panose="02020603050405020304" pitchFamily="18" charset="0"/>
                <a:ea typeface="Aptos" panose="020B0004020202020204" pitchFamily="34" charset="0"/>
              </a:rPr>
              <a:t>Key findings revealed that customers on a monthly contract agreements, low satisfaction levels, customers lacking online security and premium technical support are more prone to churn risk.</a:t>
            </a:r>
          </a:p>
          <a:p>
            <a:pPr marL="0" indent="0" algn="just">
              <a:buNone/>
            </a:pPr>
            <a:r>
              <a:rPr lang="en-US" dirty="0">
                <a:effectLst/>
                <a:latin typeface="Times New Roman" panose="02020603050405020304" pitchFamily="18" charset="0"/>
                <a:ea typeface="Aptos" panose="020B0004020202020204" pitchFamily="34" charset="0"/>
              </a:rPr>
              <a:t>The best model with</a:t>
            </a:r>
            <a:r>
              <a:rPr lang="en-US" dirty="0">
                <a:latin typeface="Times New Roman" panose="02020603050405020304" pitchFamily="18" charset="0"/>
                <a:ea typeface="Aptos" panose="020B0004020202020204" pitchFamily="34" charset="0"/>
              </a:rPr>
              <a:t> a misclassification rate of 0.029 is Auto neural networks which accurately identified the customers who were at risk from leaving the company and satisfied non churners. </a:t>
            </a:r>
          </a:p>
          <a:p>
            <a:pPr marL="0" indent="0" algn="just">
              <a:buNone/>
            </a:pPr>
            <a:r>
              <a:rPr lang="en-US" dirty="0">
                <a:effectLst/>
                <a:latin typeface="Times New Roman" panose="02020603050405020304" pitchFamily="18" charset="0"/>
                <a:ea typeface="Aptos" panose="020B0004020202020204" pitchFamily="34" charset="0"/>
              </a:rPr>
              <a:t>These findings were really important to drive specific retention strategies an</a:t>
            </a:r>
            <a:r>
              <a:rPr lang="en-US" dirty="0">
                <a:latin typeface="Times New Roman" panose="02020603050405020304" pitchFamily="18" charset="0"/>
                <a:ea typeface="Aptos" panose="020B0004020202020204" pitchFamily="34" charset="0"/>
              </a:rPr>
              <a:t>d programs. There would be a more focused approach towards improving customer satisfaction, offering additional value-added services and maintain loyalty among customers.</a:t>
            </a:r>
            <a:endParaRPr lang="en-US" dirty="0">
              <a:effectLst/>
              <a:latin typeface="Times New Roman" panose="02020603050405020304" pitchFamily="18" charset="0"/>
              <a:ea typeface="Aptos" panose="020B0004020202020204" pitchFamily="34" charset="0"/>
            </a:endParaRPr>
          </a:p>
          <a:p>
            <a:pPr marL="0" indent="0">
              <a:buNone/>
            </a:pPr>
            <a:endParaRPr lang="en-US" b="0" i="0" dirty="0">
              <a:effectLst/>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4880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11">
            <a:extLst>
              <a:ext uri="{FF2B5EF4-FFF2-40B4-BE49-F238E27FC236}">
                <a16:creationId xmlns:a16="http://schemas.microsoft.com/office/drawing/2014/main" id="{BFE4781A-41C7-4F27-8792-A74EFB8E5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0" name="Rectangle 39">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F5B709-9DA7-A816-2B7E-912CA62E8F35}"/>
              </a:ext>
            </a:extLst>
          </p:cNvPr>
          <p:cNvSpPr>
            <a:spLocks noGrp="1"/>
          </p:cNvSpPr>
          <p:nvPr>
            <p:ph type="ctrTitle"/>
          </p:nvPr>
        </p:nvSpPr>
        <p:spPr>
          <a:xfrm>
            <a:off x="1433889" y="1059872"/>
            <a:ext cx="3012216" cy="4851349"/>
          </a:xfrm>
        </p:spPr>
        <p:txBody>
          <a:bodyPr vert="horz" lIns="91440" tIns="45720" rIns="91440" bIns="45720" rtlCol="0" anchor="t">
            <a:normAutofit/>
          </a:bodyPr>
          <a:lstStyle/>
          <a:p>
            <a:r>
              <a:rPr lang="en-US" sz="3600"/>
              <a:t>PROJECT MOTIVATION</a:t>
            </a:r>
          </a:p>
        </p:txBody>
      </p:sp>
      <p:sp>
        <p:nvSpPr>
          <p:cNvPr id="42"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Subtitle 2">
            <a:extLst>
              <a:ext uri="{FF2B5EF4-FFF2-40B4-BE49-F238E27FC236}">
                <a16:creationId xmlns:a16="http://schemas.microsoft.com/office/drawing/2014/main" id="{A322444A-0B85-DB96-BCFF-072D2CF664AD}"/>
              </a:ext>
            </a:extLst>
          </p:cNvPr>
          <p:cNvSpPr>
            <a:spLocks noGrp="1"/>
          </p:cNvSpPr>
          <p:nvPr>
            <p:ph type="subTitle" idx="1"/>
          </p:nvPr>
        </p:nvSpPr>
        <p:spPr>
          <a:xfrm>
            <a:off x="4654296" y="-786"/>
            <a:ext cx="7537704" cy="6854039"/>
          </a:xfrm>
        </p:spPr>
        <p:txBody>
          <a:bodyPr vert="horz" lIns="91440" tIns="45720" rIns="91440" bIns="45720" rtlCol="0">
            <a:normAutofit/>
          </a:bodyPr>
          <a:lstStyle/>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The following project has been selected to address one of the very important challenges in the field of telecommunication: customer churn. Customer churn is described as the rate at which customers are leaving the service and therefore directly influences revenue and longer-term growth. Quite often, for telecommunication companies, retaining a customer may be less costly than attracting a new one, and the drivers that cause people to churn may lead to insightful ideas that could reduce churning rates.</a:t>
            </a:r>
          </a:p>
          <a:p>
            <a:pPr algn="just">
              <a:lnSpc>
                <a:spcPct val="90000"/>
              </a:lnSpc>
              <a:buFont typeface="Wingdings 3" charset="2"/>
              <a:buChar char=""/>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In the case study, predictive models will be built in SAS Enterprise Miner on the factors leading to churn so proactive strategies can retain the customers who are at greater risk of leaving. The developed models will enable telecom companies to predict which customers will leave, hence targeted interventions like personalized marketing, improved service offering, or contract adjustments may be considered to retain them.</a:t>
            </a:r>
          </a:p>
          <a:p>
            <a:pPr algn="just">
              <a:lnSpc>
                <a:spcPct val="90000"/>
              </a:lnSpc>
              <a:buFont typeface="Wingdings 3" charset="2"/>
              <a:buChar char=""/>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The project, on one end, depicts how to work with data science within a business environment, but also underlines a very important aspect: customer-oriented approach towards sustainable growth. Effective churn prediction particularly allows telecommunications companies to boost customer loyalty, decrease lost revenues, and strengthen their advantage over the competitors.</a:t>
            </a:r>
          </a:p>
        </p:txBody>
      </p:sp>
    </p:spTree>
    <p:extLst>
      <p:ext uri="{BB962C8B-B14F-4D97-AF65-F5344CB8AC3E}">
        <p14:creationId xmlns:p14="http://schemas.microsoft.com/office/powerpoint/2010/main" val="240877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11">
            <a:extLst>
              <a:ext uri="{FF2B5EF4-FFF2-40B4-BE49-F238E27FC236}">
                <a16:creationId xmlns:a16="http://schemas.microsoft.com/office/drawing/2014/main" id="{BFE4781A-41C7-4F27-8792-A74EFB8E5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0" name="Rectangle 39">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95714E-F5F0-4423-C4AA-27B7F985E3E1}"/>
              </a:ext>
            </a:extLst>
          </p:cNvPr>
          <p:cNvSpPr>
            <a:spLocks noGrp="1"/>
          </p:cNvSpPr>
          <p:nvPr>
            <p:ph type="ctrTitle"/>
          </p:nvPr>
        </p:nvSpPr>
        <p:spPr>
          <a:xfrm>
            <a:off x="256306" y="10372"/>
            <a:ext cx="4397989" cy="1104343"/>
          </a:xfrm>
        </p:spPr>
        <p:txBody>
          <a:bodyPr vert="horz" lIns="91440" tIns="45720" rIns="91440" bIns="45720" rtlCol="0" anchor="t">
            <a:normAutofit fontScale="90000"/>
          </a:bodyPr>
          <a:lstStyle/>
          <a:p>
            <a:r>
              <a:rPr lang="en-US" sz="3300" dirty="0"/>
              <a:t>DATA DESCRIPTION</a:t>
            </a:r>
            <a:br>
              <a:rPr lang="en-US" sz="3300" dirty="0"/>
            </a:br>
            <a:br>
              <a:rPr lang="en-US" sz="3300" dirty="0"/>
            </a:br>
            <a:endParaRPr lang="en-US" sz="3300" dirty="0"/>
          </a:p>
        </p:txBody>
      </p:sp>
      <p:sp>
        <p:nvSpPr>
          <p:cNvPr id="42"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Subtitle 2">
            <a:extLst>
              <a:ext uri="{FF2B5EF4-FFF2-40B4-BE49-F238E27FC236}">
                <a16:creationId xmlns:a16="http://schemas.microsoft.com/office/drawing/2014/main" id="{5DE03E40-736C-8C3D-689D-08020E5C8A66}"/>
              </a:ext>
            </a:extLst>
          </p:cNvPr>
          <p:cNvSpPr>
            <a:spLocks noGrp="1"/>
          </p:cNvSpPr>
          <p:nvPr>
            <p:ph type="subTitle" idx="1"/>
          </p:nvPr>
        </p:nvSpPr>
        <p:spPr>
          <a:xfrm>
            <a:off x="4668186" y="-1"/>
            <a:ext cx="7523814" cy="6853253"/>
          </a:xfrm>
        </p:spPr>
        <p:txBody>
          <a:bodyPr vert="horz" lIns="91440" tIns="45720" rIns="91440" bIns="45720" rtlCol="0">
            <a:normAutofit/>
          </a:bodyPr>
          <a:lstStyle/>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The dataset is  a secondary dataset that has been collected from Kaggle.</a:t>
            </a:r>
          </a:p>
          <a:p>
            <a:pPr marL="0" marR="0">
              <a:lnSpc>
                <a:spcPct val="90000"/>
              </a:lnSpc>
              <a:buFont typeface="Wingdings 3" charset="2"/>
              <a:buChar char=""/>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Source: </a:t>
            </a:r>
            <a:r>
              <a:rPr lang="en-US" u="sng" dirty="0">
                <a:solidFill>
                  <a:schemeClr val="tx1">
                    <a:lumMod val="75000"/>
                    <a:lumOff val="25000"/>
                  </a:schemeClr>
                </a:solidFill>
                <a:effectLst/>
                <a:latin typeface="Times New Roman" panose="02020603050405020304" pitchFamily="18" charset="0"/>
                <a:cs typeface="Times New Roman" panose="02020603050405020304" pitchFamily="18" charset="0"/>
                <a:hlinkClick r:id="rId2"/>
              </a:rPr>
              <a:t>https://www.kaggle.com/datasets/alfathterry/telco-customer-churn-11-1-3</a:t>
            </a:r>
            <a:endParaRPr lang="en-US"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The Telco dataset consists of 7043 observations and 50 columns. The Telco customer churn data contains information about a fictional telco company that provides home phone and Internet services. </a:t>
            </a:r>
          </a:p>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The Telco Customer Churn dataset provides valuable information to help us understand and predict why customers may leave a telecommunications provider. This dataset includes demographic details such as gender, age, and family status, along with details about their service usage, such as internet and phone services, contract type, payment method, and charges. The focus is on the target variable "Churn," which indicates if a customer has canceled their service.</a:t>
            </a:r>
          </a:p>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By analyzing these features, we can identify patterns and key factors driving customer churn, enabling telecom companies to enhance customer retention strategies. </a:t>
            </a:r>
          </a:p>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The dataset contains different variables as shown:</a:t>
            </a:r>
          </a:p>
          <a:p>
            <a:pPr marL="0" marR="0">
              <a:lnSpc>
                <a:spcPct val="90000"/>
              </a:lnSpc>
            </a:pPr>
            <a:r>
              <a:rPr lang="en-US" dirty="0">
                <a:solidFill>
                  <a:schemeClr val="tx1">
                    <a:lumMod val="75000"/>
                    <a:lumOff val="25000"/>
                  </a:schemeClr>
                </a:solidFill>
                <a:effectLst/>
                <a:latin typeface="Times New Roman" panose="02020603050405020304" pitchFamily="18" charset="0"/>
                <a:cs typeface="Times New Roman" panose="02020603050405020304" pitchFamily="18" charset="0"/>
              </a:rPr>
              <a:t>We have imported data using file import node and edited the variables according to their roles and levels.</a:t>
            </a:r>
          </a:p>
          <a:p>
            <a:pPr>
              <a:lnSpc>
                <a:spcPct val="90000"/>
              </a:lnSpc>
              <a:buFont typeface="Wingdings 3" charset="2"/>
              <a:buChar char=""/>
            </a:pPr>
            <a:endParaRPr lang="en-US" sz="1300" dirty="0">
              <a:solidFill>
                <a:schemeClr val="tx1">
                  <a:lumMod val="75000"/>
                  <a:lumOff val="25000"/>
                </a:schemeClr>
              </a:solidFill>
            </a:endParaRPr>
          </a:p>
        </p:txBody>
      </p:sp>
      <p:pic>
        <p:nvPicPr>
          <p:cNvPr id="7" name="Picture 6">
            <a:extLst>
              <a:ext uri="{FF2B5EF4-FFF2-40B4-BE49-F238E27FC236}">
                <a16:creationId xmlns:a16="http://schemas.microsoft.com/office/drawing/2014/main" id="{9AB8DD3D-668E-4DAE-DFF7-E8DA01D66F45}"/>
              </a:ext>
            </a:extLst>
          </p:cNvPr>
          <p:cNvPicPr>
            <a:picLocks noChangeAspect="1"/>
          </p:cNvPicPr>
          <p:nvPr/>
        </p:nvPicPr>
        <p:blipFill>
          <a:blip r:embed="rId3"/>
          <a:stretch>
            <a:fillRect/>
          </a:stretch>
        </p:blipFill>
        <p:spPr>
          <a:xfrm>
            <a:off x="186453" y="692307"/>
            <a:ext cx="4139489" cy="5993203"/>
          </a:xfrm>
          <a:prstGeom prst="rect">
            <a:avLst/>
          </a:prstGeom>
        </p:spPr>
      </p:pic>
    </p:spTree>
    <p:extLst>
      <p:ext uri="{BB962C8B-B14F-4D97-AF65-F5344CB8AC3E}">
        <p14:creationId xmlns:p14="http://schemas.microsoft.com/office/powerpoint/2010/main" val="3138192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08F47423-EE74-E49A-7384-2E5F5504550E}"/>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3068380F-D7A7-D34E-33FA-4726CFD409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1E69222A-7BCB-9690-2F07-F46214BC9A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6F29FD90-7651-D1A5-A265-CD4291273D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E19089AA-1429-6BDD-9238-068453EC1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54717F48-F9B7-E6D9-826F-AD5FE5B32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8D771634-01C0-9D3A-C7BB-52BA0DD4EF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A99320C3-5F49-9B8A-C4F6-457B98F06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4AC35FF8-1673-17A2-384F-01FA4A80E8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0120B599-8867-33CE-8004-7FD05B3EFA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666F1CB0-7B0E-84D4-05C5-C7206DDFA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343D56C8-C3CB-529F-321B-69EC3FEEFD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2C5BDA87-6ADA-B1AB-3419-A80210ACA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B520715E-E689-9746-B4D6-74E227296A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98423AAF-E4C5-16B2-25B9-73092615DA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220CC3B2-A9EB-3C91-6B8E-D3C1D0E0C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48D8A81E-CDD1-F460-6A9F-20FEF83A21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D2F10F07-7722-9472-01F5-95A84B3EB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DD6653AB-F37C-A763-C54A-63E40B1172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BBAB6D90-DDB4-8ABB-8CA1-6168FB9D4E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D6D30293-CCCE-B839-A1BD-2B7A72DAF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FDF376B7-12C8-D406-EF83-4E82C0762F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175ED989-BC4C-E4C7-F8E1-3F6316E27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4DBEC3F5-D2A6-9E43-6F0A-055561ADD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E18B6C4F-95C9-21B0-6F5C-8237663A3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701E393C-7418-17B0-232F-378875F794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3F5F08E7-A784-5A4D-07B7-65E8A79678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F8AFD78C-A89C-63CD-0885-269941869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11">
            <a:extLst>
              <a:ext uri="{FF2B5EF4-FFF2-40B4-BE49-F238E27FC236}">
                <a16:creationId xmlns:a16="http://schemas.microsoft.com/office/drawing/2014/main" id="{36CD57AE-549A-22DC-635C-417F030CF1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40" name="Rectangle 39">
            <a:extLst>
              <a:ext uri="{FF2B5EF4-FFF2-40B4-BE49-F238E27FC236}">
                <a16:creationId xmlns:a16="http://schemas.microsoft.com/office/drawing/2014/main" id="{4A401327-EF05-FC6F-F0DF-B98B9270F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2F8CA-1A3D-E725-3EF6-0CCA9791686A}"/>
              </a:ext>
            </a:extLst>
          </p:cNvPr>
          <p:cNvSpPr>
            <a:spLocks noGrp="1"/>
          </p:cNvSpPr>
          <p:nvPr>
            <p:ph type="ctrTitle"/>
          </p:nvPr>
        </p:nvSpPr>
        <p:spPr>
          <a:xfrm>
            <a:off x="953399" y="44515"/>
            <a:ext cx="3457712" cy="1246196"/>
          </a:xfrm>
        </p:spPr>
        <p:txBody>
          <a:bodyPr vert="horz" lIns="91440" tIns="45720" rIns="91440" bIns="45720" rtlCol="0" anchor="t">
            <a:normAutofit/>
          </a:bodyPr>
          <a:lstStyle/>
          <a:p>
            <a:r>
              <a:rPr lang="en-US" sz="3600" dirty="0"/>
              <a:t>DATA PREPARATION</a:t>
            </a:r>
          </a:p>
        </p:txBody>
      </p:sp>
      <p:sp>
        <p:nvSpPr>
          <p:cNvPr id="42" name="Freeform 11">
            <a:extLst>
              <a:ext uri="{FF2B5EF4-FFF2-40B4-BE49-F238E27FC236}">
                <a16:creationId xmlns:a16="http://schemas.microsoft.com/office/drawing/2014/main" id="{3B8E7AF9-B40E-0CF8-3666-EBDFF5391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3" name="Subtitle 2">
            <a:extLst>
              <a:ext uri="{FF2B5EF4-FFF2-40B4-BE49-F238E27FC236}">
                <a16:creationId xmlns:a16="http://schemas.microsoft.com/office/drawing/2014/main" id="{A546E8B1-35FB-414D-C9C1-C5A9EBC2BF51}"/>
              </a:ext>
            </a:extLst>
          </p:cNvPr>
          <p:cNvSpPr>
            <a:spLocks noGrp="1"/>
          </p:cNvSpPr>
          <p:nvPr>
            <p:ph type="subTitle" idx="1"/>
          </p:nvPr>
        </p:nvSpPr>
        <p:spPr>
          <a:xfrm>
            <a:off x="4654296" y="-786"/>
            <a:ext cx="7537704" cy="6854039"/>
          </a:xfrm>
        </p:spPr>
        <p:txBody>
          <a:bodyPr vert="horz" lIns="91440" tIns="45720" rIns="91440" bIns="45720" rtlCol="0">
            <a:normAutofit/>
          </a:bodyPr>
          <a:lstStyle/>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We have removed a few variables such as Churn Category, Churn Reason, Churn Score, Customer Status because they may reveal about the target variable Churn label directly. Including these variables could potentially cause information leakage.</a:t>
            </a: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Some variables in the dataset like City, Country, Population, State, under 30, Longitude, Latitude, Senior citizen were removed because they do not provide any meaning full insights in predicting whether a customer might leave or not.</a:t>
            </a:r>
          </a:p>
          <a:p>
            <a:pPr algn="just">
              <a:lnSpc>
                <a:spcPct val="90000"/>
              </a:lnSpc>
            </a:pPr>
            <a:endParaRPr lang="en-US" dirty="0">
              <a:solidFill>
                <a:schemeClr val="tx1">
                  <a:lumMod val="75000"/>
                  <a:lumOff val="25000"/>
                </a:schemeClr>
              </a:solidFill>
              <a:latin typeface="Times New Roman" panose="02020603050405020304" pitchFamily="18" charset="0"/>
              <a:cs typeface="Times New Roman" panose="02020603050405020304" pitchFamily="18" charset="0"/>
            </a:endParaRP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There were no missing values in our class variables or interval variables.</a:t>
            </a: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Skewness of most of the variables were appropriate except for total extra data charges and total refunds which had a skewness of above 4.00. We wanted to check if these variables were important for our model building after variable selection and then perform any transformations.</a:t>
            </a: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After variable selection, only a few variables with more sequential R square with the target variable churn were selected. These variables were having the right skewness ranges, so we did not have to transform any variables, but we used a transform for logistic regression to standardize the selected variables. </a:t>
            </a:r>
          </a:p>
          <a:p>
            <a:pPr algn="just">
              <a:lnSpc>
                <a:spcPct val="90000"/>
              </a:lnSpc>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In terms of outlier analysis, there were no outliers that had a huge difference which would impact the model.</a:t>
            </a:r>
          </a:p>
          <a:p>
            <a:pPr algn="just">
              <a:lnSpc>
                <a:spcPct val="90000"/>
              </a:lnSpc>
            </a:pPr>
            <a:r>
              <a:rPr lang="en-US" sz="1600" b="1" u="sng" dirty="0">
                <a:solidFill>
                  <a:schemeClr val="tx1">
                    <a:lumMod val="75000"/>
                    <a:lumOff val="25000"/>
                  </a:schemeClr>
                </a:solidFill>
                <a:latin typeface="Times New Roman" panose="02020603050405020304" pitchFamily="18" charset="0"/>
                <a:cs typeface="Times New Roman" panose="02020603050405020304" pitchFamily="18" charset="0"/>
              </a:rPr>
              <a:t>DATA PARTITION</a:t>
            </a:r>
          </a:p>
          <a:p>
            <a:pPr algn="just">
              <a:lnSpc>
                <a:spcPct val="90000"/>
              </a:lnSpc>
            </a:pP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We have used the data partition node to divide the dataset 80% for train and 20% for validation.</a:t>
            </a:r>
          </a:p>
        </p:txBody>
      </p:sp>
      <p:pic>
        <p:nvPicPr>
          <p:cNvPr id="5" name="Picture 4">
            <a:extLst>
              <a:ext uri="{FF2B5EF4-FFF2-40B4-BE49-F238E27FC236}">
                <a16:creationId xmlns:a16="http://schemas.microsoft.com/office/drawing/2014/main" id="{25EB22CA-4346-5FF1-931C-1B8CA82A355B}"/>
              </a:ext>
            </a:extLst>
          </p:cNvPr>
          <p:cNvPicPr>
            <a:picLocks noChangeAspect="1"/>
          </p:cNvPicPr>
          <p:nvPr/>
        </p:nvPicPr>
        <p:blipFill>
          <a:blip r:embed="rId2"/>
          <a:stretch>
            <a:fillRect/>
          </a:stretch>
        </p:blipFill>
        <p:spPr>
          <a:xfrm>
            <a:off x="385640" y="1887743"/>
            <a:ext cx="3718001" cy="2040420"/>
          </a:xfrm>
          <a:prstGeom prst="rect">
            <a:avLst/>
          </a:prstGeom>
        </p:spPr>
      </p:pic>
      <p:pic>
        <p:nvPicPr>
          <p:cNvPr id="7" name="Picture 6">
            <a:extLst>
              <a:ext uri="{FF2B5EF4-FFF2-40B4-BE49-F238E27FC236}">
                <a16:creationId xmlns:a16="http://schemas.microsoft.com/office/drawing/2014/main" id="{2D036EE7-00BC-4394-71E6-FADF811CC430}"/>
              </a:ext>
            </a:extLst>
          </p:cNvPr>
          <p:cNvPicPr>
            <a:picLocks noChangeAspect="1"/>
          </p:cNvPicPr>
          <p:nvPr/>
        </p:nvPicPr>
        <p:blipFill>
          <a:blip r:embed="rId3"/>
          <a:stretch>
            <a:fillRect/>
          </a:stretch>
        </p:blipFill>
        <p:spPr>
          <a:xfrm>
            <a:off x="388519" y="4232990"/>
            <a:ext cx="3990759" cy="1787272"/>
          </a:xfrm>
          <a:prstGeom prst="rect">
            <a:avLst/>
          </a:prstGeom>
        </p:spPr>
      </p:pic>
    </p:spTree>
    <p:extLst>
      <p:ext uri="{BB962C8B-B14F-4D97-AF65-F5344CB8AC3E}">
        <p14:creationId xmlns:p14="http://schemas.microsoft.com/office/powerpoint/2010/main" val="799133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5382322-A474-F9D0-4C7E-46CA55598ABA}"/>
              </a:ext>
            </a:extLst>
          </p:cNvPr>
          <p:cNvPicPr>
            <a:picLocks noChangeAspect="1"/>
          </p:cNvPicPr>
          <p:nvPr/>
        </p:nvPicPr>
        <p:blipFill>
          <a:blip r:embed="rId2"/>
          <a:stretch>
            <a:fillRect/>
          </a:stretch>
        </p:blipFill>
        <p:spPr>
          <a:xfrm>
            <a:off x="0" y="767816"/>
            <a:ext cx="6018047" cy="4861121"/>
          </a:xfrm>
          <a:prstGeom prst="rect">
            <a:avLst/>
          </a:prstGeom>
        </p:spPr>
      </p:pic>
      <p:pic>
        <p:nvPicPr>
          <p:cNvPr id="7" name="Picture 6">
            <a:extLst>
              <a:ext uri="{FF2B5EF4-FFF2-40B4-BE49-F238E27FC236}">
                <a16:creationId xmlns:a16="http://schemas.microsoft.com/office/drawing/2014/main" id="{6CC6CB63-30BA-EE77-BBC4-A787DD7DDFA0}"/>
              </a:ext>
            </a:extLst>
          </p:cNvPr>
          <p:cNvPicPr>
            <a:picLocks noChangeAspect="1"/>
          </p:cNvPicPr>
          <p:nvPr/>
        </p:nvPicPr>
        <p:blipFill>
          <a:blip r:embed="rId3"/>
          <a:stretch>
            <a:fillRect/>
          </a:stretch>
        </p:blipFill>
        <p:spPr>
          <a:xfrm>
            <a:off x="6173955" y="702959"/>
            <a:ext cx="5814005" cy="4925977"/>
          </a:xfrm>
          <a:prstGeom prst="rect">
            <a:avLst/>
          </a:prstGeom>
        </p:spPr>
      </p:pic>
      <p:sp>
        <p:nvSpPr>
          <p:cNvPr id="8" name="TextBox 7">
            <a:extLst>
              <a:ext uri="{FF2B5EF4-FFF2-40B4-BE49-F238E27FC236}">
                <a16:creationId xmlns:a16="http://schemas.microsoft.com/office/drawing/2014/main" id="{38347160-ADB7-769F-D09B-250C293D2478}"/>
              </a:ext>
            </a:extLst>
          </p:cNvPr>
          <p:cNvSpPr txBox="1"/>
          <p:nvPr/>
        </p:nvSpPr>
        <p:spPr>
          <a:xfrm>
            <a:off x="7347774" y="244305"/>
            <a:ext cx="473254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NO MISSING VALUES</a:t>
            </a:r>
          </a:p>
        </p:txBody>
      </p:sp>
      <p:sp>
        <p:nvSpPr>
          <p:cNvPr id="9" name="TextBox 8">
            <a:extLst>
              <a:ext uri="{FF2B5EF4-FFF2-40B4-BE49-F238E27FC236}">
                <a16:creationId xmlns:a16="http://schemas.microsoft.com/office/drawing/2014/main" id="{7C0C1290-285A-2464-1FBA-141F69DBF677}"/>
              </a:ext>
            </a:extLst>
          </p:cNvPr>
          <p:cNvSpPr txBox="1"/>
          <p:nvPr/>
        </p:nvSpPr>
        <p:spPr>
          <a:xfrm>
            <a:off x="830638" y="244305"/>
            <a:ext cx="464878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INITIAL VARIABLE EDITING</a:t>
            </a:r>
          </a:p>
        </p:txBody>
      </p:sp>
    </p:spTree>
    <p:extLst>
      <p:ext uri="{BB962C8B-B14F-4D97-AF65-F5344CB8AC3E}">
        <p14:creationId xmlns:p14="http://schemas.microsoft.com/office/powerpoint/2010/main" val="108926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14"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5"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6"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7"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8"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9"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20"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1"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2"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3"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4"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5"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3" name="Title 2">
            <a:extLst>
              <a:ext uri="{FF2B5EF4-FFF2-40B4-BE49-F238E27FC236}">
                <a16:creationId xmlns:a16="http://schemas.microsoft.com/office/drawing/2014/main" id="{FDC8EF81-AE04-C9B9-9C81-0945D5ACE4C7}"/>
              </a:ext>
            </a:extLst>
          </p:cNvPr>
          <p:cNvSpPr>
            <a:spLocks noGrp="1"/>
          </p:cNvSpPr>
          <p:nvPr>
            <p:ph type="ctrTitle"/>
          </p:nvPr>
        </p:nvSpPr>
        <p:spPr>
          <a:xfrm>
            <a:off x="545640" y="114569"/>
            <a:ext cx="4736922" cy="593260"/>
          </a:xfrm>
        </p:spPr>
        <p:txBody>
          <a:bodyPr anchor="ctr">
            <a:normAutofit/>
          </a:bodyPr>
          <a:lstStyle/>
          <a:p>
            <a:r>
              <a:rPr lang="en-US" sz="3200" b="1" dirty="0">
                <a:solidFill>
                  <a:schemeClr val="tx2">
                    <a:lumMod val="75000"/>
                  </a:schemeClr>
                </a:solidFill>
                <a:latin typeface="Times New Roman" panose="02020603050405020304" pitchFamily="18" charset="0"/>
                <a:cs typeface="Times New Roman" panose="02020603050405020304" pitchFamily="18" charset="0"/>
              </a:rPr>
              <a:t>DATA EXPLORATION</a:t>
            </a:r>
          </a:p>
        </p:txBody>
      </p:sp>
      <p:sp>
        <p:nvSpPr>
          <p:cNvPr id="4" name="Subtitle 3">
            <a:extLst>
              <a:ext uri="{FF2B5EF4-FFF2-40B4-BE49-F238E27FC236}">
                <a16:creationId xmlns:a16="http://schemas.microsoft.com/office/drawing/2014/main" id="{0BE2C391-F7A3-2A5F-FE07-648785ED5E12}"/>
              </a:ext>
            </a:extLst>
          </p:cNvPr>
          <p:cNvSpPr>
            <a:spLocks noGrp="1"/>
          </p:cNvSpPr>
          <p:nvPr>
            <p:ph type="subTitle" idx="1"/>
          </p:nvPr>
        </p:nvSpPr>
        <p:spPr>
          <a:xfrm>
            <a:off x="386511" y="822397"/>
            <a:ext cx="7057829" cy="5906469"/>
          </a:xfrm>
        </p:spPr>
        <p:txBody>
          <a:bodyPr anchor="ctr">
            <a:normAutofit fontScale="77500" lnSpcReduction="20000"/>
          </a:bodyPr>
          <a:lstStyle/>
          <a:p>
            <a:endParaRPr lang="en-US" sz="1600" dirty="0">
              <a:solidFill>
                <a:schemeClr val="tx2">
                  <a:lumMod val="75000"/>
                </a:schemeClr>
              </a:solidFill>
              <a:latin typeface="Times New Roman" panose="02020603050405020304" pitchFamily="18" charset="0"/>
              <a:cs typeface="Times New Roman" panose="02020603050405020304" pitchFamily="18" charset="0"/>
            </a:endParaRPr>
          </a:p>
          <a:p>
            <a:endParaRPr lang="en-US" sz="1600" dirty="0">
              <a:solidFill>
                <a:schemeClr val="tx2">
                  <a:lumMod val="75000"/>
                </a:schemeClr>
              </a:solidFill>
              <a:latin typeface="Times New Roman" panose="02020603050405020304" pitchFamily="18" charset="0"/>
              <a:cs typeface="Times New Roman" panose="02020603050405020304" pitchFamily="18" charset="0"/>
            </a:endParaRPr>
          </a:p>
          <a:p>
            <a:r>
              <a:rPr lang="en-US" sz="2300" dirty="0">
                <a:solidFill>
                  <a:schemeClr val="tx2">
                    <a:lumMod val="75000"/>
                  </a:schemeClr>
                </a:solidFill>
                <a:latin typeface="Times New Roman" panose="02020603050405020304" pitchFamily="18" charset="0"/>
                <a:cs typeface="Times New Roman" panose="02020603050405020304" pitchFamily="18" charset="0"/>
              </a:rPr>
              <a:t>We have initially explored the dataset using the DMDB node, which provides us the summary statistics of the input interval variables and class variables.</a:t>
            </a:r>
          </a:p>
          <a:p>
            <a:r>
              <a:rPr lang="en-US" sz="2300" dirty="0">
                <a:solidFill>
                  <a:schemeClr val="tx2">
                    <a:lumMod val="75000"/>
                  </a:schemeClr>
                </a:solidFill>
                <a:latin typeface="Times New Roman" panose="02020603050405020304" pitchFamily="18" charset="0"/>
                <a:cs typeface="Times New Roman" panose="02020603050405020304" pitchFamily="18" charset="0"/>
              </a:rPr>
              <a:t>We have used the StatExplore node to explore the dataset using plots such as Chi-square, Cramer’s V, and understand the summary statistics.</a:t>
            </a:r>
          </a:p>
          <a:p>
            <a:r>
              <a:rPr lang="en-US" sz="2300" b="1" dirty="0">
                <a:solidFill>
                  <a:schemeClr val="tx2">
                    <a:lumMod val="75000"/>
                  </a:schemeClr>
                </a:solidFill>
                <a:latin typeface="Times New Roman" panose="02020603050405020304" pitchFamily="18" charset="0"/>
                <a:cs typeface="Times New Roman" panose="02020603050405020304" pitchFamily="18" charset="0"/>
              </a:rPr>
              <a:t>VARIABLE WORTH PLOT</a:t>
            </a:r>
          </a:p>
          <a:p>
            <a:r>
              <a:rPr lang="en-US" sz="2300" dirty="0">
                <a:solidFill>
                  <a:schemeClr val="tx2">
                    <a:lumMod val="75000"/>
                  </a:schemeClr>
                </a:solidFill>
                <a:latin typeface="Times New Roman" panose="02020603050405020304" pitchFamily="18" charset="0"/>
                <a:cs typeface="Times New Roman" panose="02020603050405020304" pitchFamily="18" charset="0"/>
              </a:rPr>
              <a:t>According to the variable worth plot, the three most significant variables in predicting churn were satisfaction score, contract, tenure in months.</a:t>
            </a:r>
          </a:p>
          <a:p>
            <a:r>
              <a:rPr lang="en-US" sz="2300" b="1" dirty="0">
                <a:solidFill>
                  <a:schemeClr val="tx2">
                    <a:lumMod val="75000"/>
                  </a:schemeClr>
                </a:solidFill>
                <a:latin typeface="Times New Roman" panose="02020603050405020304" pitchFamily="18" charset="0"/>
                <a:cs typeface="Times New Roman" panose="02020603050405020304" pitchFamily="18" charset="0"/>
              </a:rPr>
              <a:t>CHI-SQAURE PLOT</a:t>
            </a:r>
          </a:p>
          <a:p>
            <a:r>
              <a:rPr lang="en-US" sz="2300" dirty="0">
                <a:solidFill>
                  <a:schemeClr val="tx2">
                    <a:lumMod val="75000"/>
                  </a:schemeClr>
                </a:solidFill>
                <a:latin typeface="Times New Roman" panose="02020603050405020304" pitchFamily="18" charset="0"/>
                <a:cs typeface="Times New Roman" panose="02020603050405020304" pitchFamily="18" charset="0"/>
              </a:rPr>
              <a:t>The chi-square plot shows us the most strongly variables associated with churn. They are Satisfaction score, followed by contract, tenure in months and internet type.</a:t>
            </a:r>
          </a:p>
          <a:p>
            <a:r>
              <a:rPr lang="en-US" sz="2300" b="1" dirty="0">
                <a:solidFill>
                  <a:schemeClr val="tx2">
                    <a:lumMod val="75000"/>
                  </a:schemeClr>
                </a:solidFill>
                <a:latin typeface="Times New Roman" panose="02020603050405020304" pitchFamily="18" charset="0"/>
                <a:cs typeface="Times New Roman" panose="02020603050405020304" pitchFamily="18" charset="0"/>
              </a:rPr>
              <a:t>DISTRIBUTION OF TARGET VARIABLE</a:t>
            </a:r>
          </a:p>
          <a:p>
            <a:r>
              <a:rPr lang="en-US" sz="2300" kern="100" dirty="0">
                <a:effectLst/>
                <a:latin typeface="Times New Roman" panose="02020603050405020304" pitchFamily="18" charset="0"/>
                <a:ea typeface="Aptos" panose="020B0004020202020204" pitchFamily="34" charset="0"/>
                <a:cs typeface="Times New Roman" panose="02020603050405020304" pitchFamily="18" charset="0"/>
              </a:rPr>
              <a:t>According to the data, 26.54% of clients leave the company, while 73.46% remain. Given that more than 25% of customers are at risk of leaving, this churn rate causes a serious risk to profitability. The company can increase customer loyalty and customer retention by implementing strategies for retention by precisely identifying and targeting these at-risk consumers.</a:t>
            </a:r>
            <a:endParaRPr lang="en-US" sz="23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b="1" dirty="0">
              <a:solidFill>
                <a:schemeClr val="tx2">
                  <a:lumMod val="75000"/>
                </a:schemeClr>
              </a:solidFill>
              <a:latin typeface="Times New Roman" panose="02020603050405020304" pitchFamily="18" charset="0"/>
              <a:cs typeface="Times New Roman" panose="02020603050405020304" pitchFamily="18" charset="0"/>
            </a:endParaRPr>
          </a:p>
          <a:p>
            <a:endParaRPr lang="en-US" b="1" dirty="0">
              <a:solidFill>
                <a:schemeClr val="tx2">
                  <a:lumMod val="75000"/>
                </a:schemeClr>
              </a:solidFill>
              <a:latin typeface="Times New Roman" panose="02020603050405020304" pitchFamily="18" charset="0"/>
              <a:cs typeface="Times New Roman" panose="02020603050405020304" pitchFamily="18" charset="0"/>
            </a:endParaRPr>
          </a:p>
          <a:p>
            <a:endParaRPr lang="en-US" b="1" dirty="0">
              <a:solidFill>
                <a:schemeClr val="tx2">
                  <a:lumMod val="75000"/>
                </a:schemeClr>
              </a:solidFill>
              <a:latin typeface="Times New Roman" panose="02020603050405020304" pitchFamily="18" charset="0"/>
              <a:cs typeface="Times New Roman" panose="02020603050405020304" pitchFamily="18" charset="0"/>
            </a:endParaRPr>
          </a:p>
          <a:p>
            <a:endParaRPr lang="en-US" dirty="0">
              <a:solidFill>
                <a:schemeClr val="tx2">
                  <a:lumMod val="75000"/>
                </a:schemeClr>
              </a:solidFill>
            </a:endParaRPr>
          </a:p>
          <a:p>
            <a:endParaRPr lang="en-US" dirty="0">
              <a:solidFill>
                <a:schemeClr val="tx2">
                  <a:lumMod val="75000"/>
                </a:schemeClr>
              </a:solidFill>
            </a:endParaRPr>
          </a:p>
        </p:txBody>
      </p:sp>
      <p:cxnSp>
        <p:nvCxnSpPr>
          <p:cNvPr id="27" name="Straight Connector 26">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40B72DFB-E540-B589-B939-B80F3B5E0C76}"/>
              </a:ext>
            </a:extLst>
          </p:cNvPr>
          <p:cNvPicPr>
            <a:picLocks noChangeAspect="1"/>
          </p:cNvPicPr>
          <p:nvPr/>
        </p:nvPicPr>
        <p:blipFill>
          <a:blip r:embed="rId2"/>
          <a:stretch>
            <a:fillRect/>
          </a:stretch>
        </p:blipFill>
        <p:spPr>
          <a:xfrm>
            <a:off x="7647971" y="281123"/>
            <a:ext cx="3767443" cy="2024275"/>
          </a:xfrm>
          <a:prstGeom prst="rect">
            <a:avLst/>
          </a:prstGeom>
        </p:spPr>
      </p:pic>
      <p:sp>
        <p:nvSpPr>
          <p:cNvPr id="7" name="TextBox 6">
            <a:extLst>
              <a:ext uri="{FF2B5EF4-FFF2-40B4-BE49-F238E27FC236}">
                <a16:creationId xmlns:a16="http://schemas.microsoft.com/office/drawing/2014/main" id="{48B37F8D-80BD-DE73-E409-5928EF68FE2B}"/>
              </a:ext>
            </a:extLst>
          </p:cNvPr>
          <p:cNvSpPr txBox="1"/>
          <p:nvPr/>
        </p:nvSpPr>
        <p:spPr>
          <a:xfrm>
            <a:off x="8244265" y="67415"/>
            <a:ext cx="36641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VARIABLE WORTH PLOT</a:t>
            </a:r>
          </a:p>
        </p:txBody>
      </p:sp>
      <p:pic>
        <p:nvPicPr>
          <p:cNvPr id="10" name="Picture 9">
            <a:extLst>
              <a:ext uri="{FF2B5EF4-FFF2-40B4-BE49-F238E27FC236}">
                <a16:creationId xmlns:a16="http://schemas.microsoft.com/office/drawing/2014/main" id="{1126962E-A86F-56A6-D6D6-E78420EE7889}"/>
              </a:ext>
            </a:extLst>
          </p:cNvPr>
          <p:cNvPicPr>
            <a:picLocks noChangeAspect="1"/>
          </p:cNvPicPr>
          <p:nvPr/>
        </p:nvPicPr>
        <p:blipFill>
          <a:blip r:embed="rId3"/>
          <a:stretch>
            <a:fillRect/>
          </a:stretch>
        </p:blipFill>
        <p:spPr>
          <a:xfrm>
            <a:off x="7674933" y="2409038"/>
            <a:ext cx="3790601" cy="1905056"/>
          </a:xfrm>
          <a:prstGeom prst="rect">
            <a:avLst/>
          </a:prstGeom>
        </p:spPr>
      </p:pic>
      <p:sp>
        <p:nvSpPr>
          <p:cNvPr id="12" name="TextBox 11">
            <a:extLst>
              <a:ext uri="{FF2B5EF4-FFF2-40B4-BE49-F238E27FC236}">
                <a16:creationId xmlns:a16="http://schemas.microsoft.com/office/drawing/2014/main" id="{78E7A2D6-026F-6DF5-50B5-3AC0B88D2081}"/>
              </a:ext>
            </a:extLst>
          </p:cNvPr>
          <p:cNvSpPr txBox="1"/>
          <p:nvPr/>
        </p:nvSpPr>
        <p:spPr>
          <a:xfrm>
            <a:off x="8471456" y="4286699"/>
            <a:ext cx="32726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CHI SQUARE PLOT</a:t>
            </a:r>
          </a:p>
        </p:txBody>
      </p:sp>
      <p:pic>
        <p:nvPicPr>
          <p:cNvPr id="28" name="Picture 27">
            <a:extLst>
              <a:ext uri="{FF2B5EF4-FFF2-40B4-BE49-F238E27FC236}">
                <a16:creationId xmlns:a16="http://schemas.microsoft.com/office/drawing/2014/main" id="{157BD596-782C-685A-C6A6-76413295E139}"/>
              </a:ext>
            </a:extLst>
          </p:cNvPr>
          <p:cNvPicPr>
            <a:picLocks noChangeAspect="1"/>
          </p:cNvPicPr>
          <p:nvPr/>
        </p:nvPicPr>
        <p:blipFill>
          <a:blip r:embed="rId4"/>
          <a:stretch>
            <a:fillRect/>
          </a:stretch>
        </p:blipFill>
        <p:spPr>
          <a:xfrm>
            <a:off x="7734454" y="4831133"/>
            <a:ext cx="4404048" cy="1547772"/>
          </a:xfrm>
          <a:prstGeom prst="rect">
            <a:avLst/>
          </a:prstGeom>
        </p:spPr>
      </p:pic>
    </p:spTree>
    <p:extLst>
      <p:ext uri="{BB962C8B-B14F-4D97-AF65-F5344CB8AC3E}">
        <p14:creationId xmlns:p14="http://schemas.microsoft.com/office/powerpoint/2010/main" val="6345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79"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80"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81"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82"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83"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84"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85"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86"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87"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88"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89"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90"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92" name="Group 91">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93"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94"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95"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96"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97"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98"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99"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00"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1"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02"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03"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04"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06" name="Rectangle 105">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8" name="Freeform 11">
            <a:extLst>
              <a:ext uri="{FF2B5EF4-FFF2-40B4-BE49-F238E27FC236}">
                <a16:creationId xmlns:a16="http://schemas.microsoft.com/office/drawing/2014/main" id="{BFE4781A-41C7-4F27-8792-A74EFB8E5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useBgFill="1">
        <p:nvSpPr>
          <p:cNvPr id="110" name="Rectangle 109">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6D49BD-23B2-B3E3-93F3-5F3A4462F153}"/>
              </a:ext>
            </a:extLst>
          </p:cNvPr>
          <p:cNvSpPr>
            <a:spLocks noGrp="1"/>
          </p:cNvSpPr>
          <p:nvPr>
            <p:ph type="ctrTitle"/>
          </p:nvPr>
        </p:nvSpPr>
        <p:spPr>
          <a:xfrm>
            <a:off x="296865" y="48382"/>
            <a:ext cx="8857524" cy="1068707"/>
          </a:xfrm>
        </p:spPr>
        <p:txBody>
          <a:bodyPr vert="horz" lIns="91440" tIns="45720" rIns="91440" bIns="45720" rtlCol="0" anchor="ctr">
            <a:normAutofit/>
          </a:bodyPr>
          <a:lstStyle/>
          <a:p>
            <a:r>
              <a:rPr lang="en-US" sz="3100" b="1" dirty="0">
                <a:solidFill>
                  <a:schemeClr val="tx2">
                    <a:lumMod val="75000"/>
                  </a:schemeClr>
                </a:solidFill>
                <a:latin typeface="Times New Roman" panose="02020603050405020304" pitchFamily="18" charset="0"/>
                <a:cs typeface="Times New Roman" panose="02020603050405020304" pitchFamily="18" charset="0"/>
              </a:rPr>
              <a:t>MODELS USED – CLASSIFICATION ANALYSIS</a:t>
            </a:r>
          </a:p>
        </p:txBody>
      </p:sp>
      <p:sp>
        <p:nvSpPr>
          <p:cNvPr id="112" name="Rectangle 111">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4" name="Straight Connector 113">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17"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18"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19"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20"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21"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22"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23"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124"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125"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126"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127"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128"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3" name="Subtitle 2">
            <a:extLst>
              <a:ext uri="{FF2B5EF4-FFF2-40B4-BE49-F238E27FC236}">
                <a16:creationId xmlns:a16="http://schemas.microsoft.com/office/drawing/2014/main" id="{E98786F5-939B-8597-234D-76647DB89ED3}"/>
              </a:ext>
            </a:extLst>
          </p:cNvPr>
          <p:cNvSpPr>
            <a:spLocks noGrp="1"/>
          </p:cNvSpPr>
          <p:nvPr>
            <p:ph type="subTitle" idx="1"/>
          </p:nvPr>
        </p:nvSpPr>
        <p:spPr>
          <a:xfrm>
            <a:off x="5605521" y="870155"/>
            <a:ext cx="6423565" cy="5669867"/>
          </a:xfrm>
        </p:spPr>
        <p:txBody>
          <a:bodyPr vert="horz" lIns="91440" tIns="45720" rIns="91440" bIns="45720" rtlCol="0" anchor="ctr">
            <a:normAutofit/>
          </a:bodyPr>
          <a:lstStyle/>
          <a:p>
            <a:pPr marR="0">
              <a:buFont typeface="Wingdings 3" charset="2"/>
              <a:buChar char=""/>
            </a:pPr>
            <a:r>
              <a:rPr lang="en-US" b="1" u="sng" dirty="0">
                <a:solidFill>
                  <a:schemeClr val="tx2">
                    <a:lumMod val="75000"/>
                  </a:schemeClr>
                </a:solidFill>
                <a:effectLst/>
                <a:latin typeface="Times New Roman" panose="02020603050405020304" pitchFamily="18" charset="0"/>
                <a:cs typeface="Times New Roman" panose="02020603050405020304" pitchFamily="18" charset="0"/>
              </a:rPr>
              <a:t>Target Variable: Churn Label </a:t>
            </a:r>
            <a:endParaRPr lang="en-US" b="1" u="sng" dirty="0">
              <a:solidFill>
                <a:schemeClr val="tx2">
                  <a:lumMod val="75000"/>
                </a:schemeClr>
              </a:solidFill>
              <a:latin typeface="Times New Roman" panose="02020603050405020304" pitchFamily="18" charset="0"/>
              <a:cs typeface="Times New Roman" panose="02020603050405020304" pitchFamily="18" charset="0"/>
            </a:endParaRPr>
          </a:p>
          <a:p>
            <a:pPr marR="0" algn="just">
              <a:buFont typeface="Wingdings 3" charset="2"/>
              <a:buChar char=""/>
            </a:pPr>
            <a:r>
              <a:rPr lang="en-US" dirty="0">
                <a:solidFill>
                  <a:schemeClr val="tx2">
                    <a:lumMod val="75000"/>
                  </a:schemeClr>
                </a:solidFill>
                <a:effectLst/>
                <a:latin typeface="Times New Roman" panose="02020603050405020304" pitchFamily="18" charset="0"/>
                <a:cs typeface="Times New Roman" panose="02020603050405020304" pitchFamily="18" charset="0"/>
              </a:rPr>
              <a:t>A few types of models were developed and evaluated based on misclassification rates to identify the model that could provide class labels with the lowest possible error. </a:t>
            </a:r>
          </a:p>
          <a:p>
            <a:pPr marR="0" algn="just">
              <a:buFont typeface="Wingdings 3" charset="2"/>
              <a:buChar char=""/>
            </a:pPr>
            <a:r>
              <a:rPr lang="en-US" dirty="0">
                <a:solidFill>
                  <a:schemeClr val="tx2">
                    <a:lumMod val="75000"/>
                  </a:schemeClr>
                </a:solidFill>
                <a:latin typeface="Times New Roman" panose="02020603050405020304" pitchFamily="18" charset="0"/>
                <a:cs typeface="Times New Roman" panose="02020603050405020304" pitchFamily="18" charset="0"/>
              </a:rPr>
              <a:t>We have built the following models:</a:t>
            </a:r>
          </a:p>
          <a:p>
            <a:pPr marL="342900" marR="0" indent="-342900" algn="just">
              <a:buFont typeface="Wingdings 3" charset="2"/>
              <a:buChar char=""/>
            </a:pPr>
            <a:r>
              <a:rPr lang="en-US" dirty="0">
                <a:solidFill>
                  <a:schemeClr val="tx2">
                    <a:lumMod val="75000"/>
                  </a:schemeClr>
                </a:solidFill>
                <a:effectLst/>
                <a:latin typeface="Times New Roman" panose="02020603050405020304" pitchFamily="18" charset="0"/>
                <a:cs typeface="Times New Roman" panose="02020603050405020304" pitchFamily="18" charset="0"/>
              </a:rPr>
              <a:t>Logistic Regression</a:t>
            </a:r>
          </a:p>
          <a:p>
            <a:pPr marL="342900" marR="0" indent="-342900" algn="just">
              <a:buFont typeface="Wingdings 3" charset="2"/>
              <a:buChar char=""/>
            </a:pPr>
            <a:r>
              <a:rPr lang="en-US" dirty="0">
                <a:solidFill>
                  <a:schemeClr val="tx2">
                    <a:lumMod val="75000"/>
                  </a:schemeClr>
                </a:solidFill>
                <a:latin typeface="Times New Roman" panose="02020603050405020304" pitchFamily="18" charset="0"/>
                <a:cs typeface="Times New Roman" panose="02020603050405020304" pitchFamily="18" charset="0"/>
              </a:rPr>
              <a:t>Decision Trees- Three type of Decision Trees were built using different maximum branches and maximum depth</a:t>
            </a:r>
          </a:p>
          <a:p>
            <a:pPr marL="342900" marR="0" indent="-342900" algn="just">
              <a:buFont typeface="Wingdings 3" charset="2"/>
              <a:buChar char=""/>
            </a:pPr>
            <a:r>
              <a:rPr lang="en-US" dirty="0">
                <a:solidFill>
                  <a:schemeClr val="tx2">
                    <a:lumMod val="75000"/>
                  </a:schemeClr>
                </a:solidFill>
                <a:latin typeface="Times New Roman" panose="02020603050405020304" pitchFamily="18" charset="0"/>
                <a:cs typeface="Times New Roman" panose="02020603050405020304" pitchFamily="18" charset="0"/>
              </a:rPr>
              <a:t>HP FOREST (RANDOM FOREST)</a:t>
            </a:r>
          </a:p>
          <a:p>
            <a:pPr marL="342900" marR="0" indent="-342900" algn="just">
              <a:buFont typeface="Wingdings 3" charset="2"/>
              <a:buChar char=""/>
            </a:pPr>
            <a:r>
              <a:rPr lang="en-US" dirty="0">
                <a:solidFill>
                  <a:schemeClr val="tx2">
                    <a:lumMod val="75000"/>
                  </a:schemeClr>
                </a:solidFill>
                <a:effectLst/>
                <a:latin typeface="Times New Roman" panose="02020603050405020304" pitchFamily="18" charset="0"/>
                <a:cs typeface="Times New Roman" panose="02020603050405020304" pitchFamily="18" charset="0"/>
              </a:rPr>
              <a:t>Neural Networks- Both Auto-neural network and neural network with 16 hidden units</a:t>
            </a:r>
          </a:p>
          <a:p>
            <a:pPr marL="342900" marR="0" indent="-342900">
              <a:buFont typeface="Wingdings 3" charset="2"/>
              <a:buChar char=""/>
            </a:pPr>
            <a:endParaRPr lang="en-US" dirty="0">
              <a:solidFill>
                <a:schemeClr val="tx2">
                  <a:lumMod val="75000"/>
                </a:schemeClr>
              </a:solidFill>
              <a:effectLst/>
            </a:endParaRPr>
          </a:p>
          <a:p>
            <a:pPr>
              <a:buFont typeface="Wingdings 3" charset="2"/>
              <a:buChar char=""/>
            </a:pPr>
            <a:endParaRPr lang="en-US" dirty="0">
              <a:solidFill>
                <a:schemeClr val="tx2">
                  <a:lumMod val="75000"/>
                </a:schemeClr>
              </a:solidFill>
            </a:endParaRPr>
          </a:p>
        </p:txBody>
      </p:sp>
      <p:pic>
        <p:nvPicPr>
          <p:cNvPr id="5" name="Picture 4">
            <a:extLst>
              <a:ext uri="{FF2B5EF4-FFF2-40B4-BE49-F238E27FC236}">
                <a16:creationId xmlns:a16="http://schemas.microsoft.com/office/drawing/2014/main" id="{64A0AFA1-A91B-6A09-A31C-DD4ACA9FA42E}"/>
              </a:ext>
            </a:extLst>
          </p:cNvPr>
          <p:cNvPicPr>
            <a:picLocks noChangeAspect="1"/>
          </p:cNvPicPr>
          <p:nvPr/>
        </p:nvPicPr>
        <p:blipFill>
          <a:blip r:embed="rId2"/>
          <a:stretch>
            <a:fillRect/>
          </a:stretch>
        </p:blipFill>
        <p:spPr>
          <a:xfrm>
            <a:off x="205721" y="1769324"/>
            <a:ext cx="5202225" cy="3396681"/>
          </a:xfrm>
          <a:prstGeom prst="rect">
            <a:avLst/>
          </a:prstGeom>
        </p:spPr>
      </p:pic>
    </p:spTree>
    <p:extLst>
      <p:ext uri="{BB962C8B-B14F-4D97-AF65-F5344CB8AC3E}">
        <p14:creationId xmlns:p14="http://schemas.microsoft.com/office/powerpoint/2010/main" val="113791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39F9C93-D893-4641-85FA-56BEE11F6782}"/>
            </a:ext>
          </a:extLst>
        </p:cNvPr>
        <p:cNvGrpSpPr/>
        <p:nvPr/>
      </p:nvGrpSpPr>
      <p:grpSpPr>
        <a:xfrm>
          <a:off x="0" y="0"/>
          <a:ext cx="0" cy="0"/>
          <a:chOff x="0" y="0"/>
          <a:chExt cx="0" cy="0"/>
        </a:xfrm>
      </p:grpSpPr>
      <p:grpSp>
        <p:nvGrpSpPr>
          <p:cNvPr id="78" name="Group 77">
            <a:extLst>
              <a:ext uri="{FF2B5EF4-FFF2-40B4-BE49-F238E27FC236}">
                <a16:creationId xmlns:a16="http://schemas.microsoft.com/office/drawing/2014/main" id="{EA23D2EC-D17F-47D2-996E-6A07D36D5C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79" name="Freeform 11">
              <a:extLst>
                <a:ext uri="{FF2B5EF4-FFF2-40B4-BE49-F238E27FC236}">
                  <a16:creationId xmlns:a16="http://schemas.microsoft.com/office/drawing/2014/main" id="{774CEC3C-AA28-77D1-1005-CF982A0F1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80" name="Freeform 12">
              <a:extLst>
                <a:ext uri="{FF2B5EF4-FFF2-40B4-BE49-F238E27FC236}">
                  <a16:creationId xmlns:a16="http://schemas.microsoft.com/office/drawing/2014/main" id="{48190C8F-4499-5B35-38BB-9760C1788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81" name="Freeform 13">
              <a:extLst>
                <a:ext uri="{FF2B5EF4-FFF2-40B4-BE49-F238E27FC236}">
                  <a16:creationId xmlns:a16="http://schemas.microsoft.com/office/drawing/2014/main" id="{1F7CFD97-09D3-B340-BC6E-84CB9AABC8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82" name="Freeform 14">
              <a:extLst>
                <a:ext uri="{FF2B5EF4-FFF2-40B4-BE49-F238E27FC236}">
                  <a16:creationId xmlns:a16="http://schemas.microsoft.com/office/drawing/2014/main" id="{119CEA1C-26D6-CF07-1DD6-D3EDFD2A3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83" name="Freeform 15">
              <a:extLst>
                <a:ext uri="{FF2B5EF4-FFF2-40B4-BE49-F238E27FC236}">
                  <a16:creationId xmlns:a16="http://schemas.microsoft.com/office/drawing/2014/main" id="{A9A806AC-34DD-33A1-5A8D-C75872A26C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84" name="Freeform 16">
              <a:extLst>
                <a:ext uri="{FF2B5EF4-FFF2-40B4-BE49-F238E27FC236}">
                  <a16:creationId xmlns:a16="http://schemas.microsoft.com/office/drawing/2014/main" id="{3E7ABAEB-694B-81E5-3BA7-4662B9FF17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85" name="Freeform 17">
              <a:extLst>
                <a:ext uri="{FF2B5EF4-FFF2-40B4-BE49-F238E27FC236}">
                  <a16:creationId xmlns:a16="http://schemas.microsoft.com/office/drawing/2014/main" id="{155E3F8A-F1C2-47C5-465C-574156B4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86" name="Freeform 18">
              <a:extLst>
                <a:ext uri="{FF2B5EF4-FFF2-40B4-BE49-F238E27FC236}">
                  <a16:creationId xmlns:a16="http://schemas.microsoft.com/office/drawing/2014/main" id="{E5F4A0EA-FD42-DF69-654F-68C8F34A10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87" name="Freeform 19">
              <a:extLst>
                <a:ext uri="{FF2B5EF4-FFF2-40B4-BE49-F238E27FC236}">
                  <a16:creationId xmlns:a16="http://schemas.microsoft.com/office/drawing/2014/main" id="{4CFBF30D-E249-AC3B-93B2-77D6710E88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88" name="Freeform 20">
              <a:extLst>
                <a:ext uri="{FF2B5EF4-FFF2-40B4-BE49-F238E27FC236}">
                  <a16:creationId xmlns:a16="http://schemas.microsoft.com/office/drawing/2014/main" id="{8BFA22E9-5D29-ED08-8D19-C8CAD3820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89" name="Freeform 21">
              <a:extLst>
                <a:ext uri="{FF2B5EF4-FFF2-40B4-BE49-F238E27FC236}">
                  <a16:creationId xmlns:a16="http://schemas.microsoft.com/office/drawing/2014/main" id="{055F4B7D-8862-DAC8-3149-C4648EDC4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90" name="Freeform 22">
              <a:extLst>
                <a:ext uri="{FF2B5EF4-FFF2-40B4-BE49-F238E27FC236}">
                  <a16:creationId xmlns:a16="http://schemas.microsoft.com/office/drawing/2014/main" id="{A29058EC-D657-F02C-4CA8-DAB4E0D64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92" name="Group 91">
            <a:extLst>
              <a:ext uri="{FF2B5EF4-FFF2-40B4-BE49-F238E27FC236}">
                <a16:creationId xmlns:a16="http://schemas.microsoft.com/office/drawing/2014/main" id="{50CE527C-A15F-C09B-2506-5327B4106F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93" name="Freeform 27">
              <a:extLst>
                <a:ext uri="{FF2B5EF4-FFF2-40B4-BE49-F238E27FC236}">
                  <a16:creationId xmlns:a16="http://schemas.microsoft.com/office/drawing/2014/main" id="{6EC8C948-2948-A9CE-D05B-9A693CF77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94" name="Freeform 28">
              <a:extLst>
                <a:ext uri="{FF2B5EF4-FFF2-40B4-BE49-F238E27FC236}">
                  <a16:creationId xmlns:a16="http://schemas.microsoft.com/office/drawing/2014/main" id="{46013195-C149-F66A-251E-B59E781BB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95" name="Freeform 29">
              <a:extLst>
                <a:ext uri="{FF2B5EF4-FFF2-40B4-BE49-F238E27FC236}">
                  <a16:creationId xmlns:a16="http://schemas.microsoft.com/office/drawing/2014/main" id="{DB248286-B608-265B-344B-D410266C0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96" name="Freeform 30">
              <a:extLst>
                <a:ext uri="{FF2B5EF4-FFF2-40B4-BE49-F238E27FC236}">
                  <a16:creationId xmlns:a16="http://schemas.microsoft.com/office/drawing/2014/main" id="{68148226-CAB6-86AF-5BD8-3084851C46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97" name="Freeform 31">
              <a:extLst>
                <a:ext uri="{FF2B5EF4-FFF2-40B4-BE49-F238E27FC236}">
                  <a16:creationId xmlns:a16="http://schemas.microsoft.com/office/drawing/2014/main" id="{F5E1819D-E125-1187-EEBA-A08735353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98" name="Freeform 32">
              <a:extLst>
                <a:ext uri="{FF2B5EF4-FFF2-40B4-BE49-F238E27FC236}">
                  <a16:creationId xmlns:a16="http://schemas.microsoft.com/office/drawing/2014/main" id="{9E5D3C14-2BF6-BB42-38EF-915110BE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99" name="Freeform 33">
              <a:extLst>
                <a:ext uri="{FF2B5EF4-FFF2-40B4-BE49-F238E27FC236}">
                  <a16:creationId xmlns:a16="http://schemas.microsoft.com/office/drawing/2014/main" id="{5CC4A9D5-71F3-CCBE-C48F-1C684B349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00" name="Freeform 34">
              <a:extLst>
                <a:ext uri="{FF2B5EF4-FFF2-40B4-BE49-F238E27FC236}">
                  <a16:creationId xmlns:a16="http://schemas.microsoft.com/office/drawing/2014/main" id="{63B19678-204A-A84D-D204-4EB69297B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1" name="Freeform 35">
              <a:extLst>
                <a:ext uri="{FF2B5EF4-FFF2-40B4-BE49-F238E27FC236}">
                  <a16:creationId xmlns:a16="http://schemas.microsoft.com/office/drawing/2014/main" id="{8C7541F9-36CD-0F83-BC63-5A22F5D01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02" name="Freeform 36">
              <a:extLst>
                <a:ext uri="{FF2B5EF4-FFF2-40B4-BE49-F238E27FC236}">
                  <a16:creationId xmlns:a16="http://schemas.microsoft.com/office/drawing/2014/main" id="{9776026D-9836-3324-4A6A-62958BB34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03" name="Freeform 37">
              <a:extLst>
                <a:ext uri="{FF2B5EF4-FFF2-40B4-BE49-F238E27FC236}">
                  <a16:creationId xmlns:a16="http://schemas.microsoft.com/office/drawing/2014/main" id="{540E0977-72E0-1C47-42FF-6CA2C9F15D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04" name="Freeform 38">
              <a:extLst>
                <a:ext uri="{FF2B5EF4-FFF2-40B4-BE49-F238E27FC236}">
                  <a16:creationId xmlns:a16="http://schemas.microsoft.com/office/drawing/2014/main" id="{EBEC8E30-AEA4-DBFF-1E78-5DF0AAEBA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06" name="Rectangle 105">
            <a:extLst>
              <a:ext uri="{FF2B5EF4-FFF2-40B4-BE49-F238E27FC236}">
                <a16:creationId xmlns:a16="http://schemas.microsoft.com/office/drawing/2014/main" id="{E89976DC-397E-659E-7248-1311FB1B6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8" name="Freeform 11">
            <a:extLst>
              <a:ext uri="{FF2B5EF4-FFF2-40B4-BE49-F238E27FC236}">
                <a16:creationId xmlns:a16="http://schemas.microsoft.com/office/drawing/2014/main" id="{9EC17961-1F90-C879-D2A1-420AD20F6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useBgFill="1">
        <p:nvSpPr>
          <p:cNvPr id="110" name="Rectangle 109">
            <a:extLst>
              <a:ext uri="{FF2B5EF4-FFF2-40B4-BE49-F238E27FC236}">
                <a16:creationId xmlns:a16="http://schemas.microsoft.com/office/drawing/2014/main" id="{17B027FC-B8CA-FA37-31D9-8EBFB6B43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AA090FBD-BAA4-DDC8-FA2C-66A033E98E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14" name="Straight Connector 113">
            <a:extLst>
              <a:ext uri="{FF2B5EF4-FFF2-40B4-BE49-F238E27FC236}">
                <a16:creationId xmlns:a16="http://schemas.microsoft.com/office/drawing/2014/main" id="{78E65C38-2FDC-20AF-E143-AB9DE1F320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1BFD8413-4F90-D9FB-397B-D7B2DA226C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17" name="Freeform 11">
              <a:extLst>
                <a:ext uri="{FF2B5EF4-FFF2-40B4-BE49-F238E27FC236}">
                  <a16:creationId xmlns:a16="http://schemas.microsoft.com/office/drawing/2014/main" id="{0F350D7E-6605-7E33-99A0-790FAEDA7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18" name="Freeform 12">
              <a:extLst>
                <a:ext uri="{FF2B5EF4-FFF2-40B4-BE49-F238E27FC236}">
                  <a16:creationId xmlns:a16="http://schemas.microsoft.com/office/drawing/2014/main" id="{DBC85D02-F93B-9FED-E872-DB92F60103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19" name="Freeform 13">
              <a:extLst>
                <a:ext uri="{FF2B5EF4-FFF2-40B4-BE49-F238E27FC236}">
                  <a16:creationId xmlns:a16="http://schemas.microsoft.com/office/drawing/2014/main" id="{C8966202-D198-6AB4-44A0-C6F7E4CCF2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20" name="Freeform 14">
              <a:extLst>
                <a:ext uri="{FF2B5EF4-FFF2-40B4-BE49-F238E27FC236}">
                  <a16:creationId xmlns:a16="http://schemas.microsoft.com/office/drawing/2014/main" id="{B1DF4E3C-F0FF-C6FD-28A2-4602EED0B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21" name="Freeform 15">
              <a:extLst>
                <a:ext uri="{FF2B5EF4-FFF2-40B4-BE49-F238E27FC236}">
                  <a16:creationId xmlns:a16="http://schemas.microsoft.com/office/drawing/2014/main" id="{9830994B-94E7-9901-39CF-E125ABF52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22" name="Freeform 16">
              <a:extLst>
                <a:ext uri="{FF2B5EF4-FFF2-40B4-BE49-F238E27FC236}">
                  <a16:creationId xmlns:a16="http://schemas.microsoft.com/office/drawing/2014/main" id="{70EF5BEC-D8EE-5BE6-43CE-CD990D86A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23" name="Freeform 17">
              <a:extLst>
                <a:ext uri="{FF2B5EF4-FFF2-40B4-BE49-F238E27FC236}">
                  <a16:creationId xmlns:a16="http://schemas.microsoft.com/office/drawing/2014/main" id="{D8BFD239-0F08-8D4E-1F3F-B3F611A8C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124" name="Freeform 18">
              <a:extLst>
                <a:ext uri="{FF2B5EF4-FFF2-40B4-BE49-F238E27FC236}">
                  <a16:creationId xmlns:a16="http://schemas.microsoft.com/office/drawing/2014/main" id="{D8C46DC2-DA87-DBBA-2833-A9EE112489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125" name="Freeform 19">
              <a:extLst>
                <a:ext uri="{FF2B5EF4-FFF2-40B4-BE49-F238E27FC236}">
                  <a16:creationId xmlns:a16="http://schemas.microsoft.com/office/drawing/2014/main" id="{D734B5C6-1E95-F7B1-9091-9985EB9C95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126" name="Freeform 20">
              <a:extLst>
                <a:ext uri="{FF2B5EF4-FFF2-40B4-BE49-F238E27FC236}">
                  <a16:creationId xmlns:a16="http://schemas.microsoft.com/office/drawing/2014/main" id="{6C03D5E4-F844-F37F-505D-37AFA70709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127" name="Freeform 21">
              <a:extLst>
                <a:ext uri="{FF2B5EF4-FFF2-40B4-BE49-F238E27FC236}">
                  <a16:creationId xmlns:a16="http://schemas.microsoft.com/office/drawing/2014/main" id="{B871098D-F155-7309-ABA6-73D5540BDB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128" name="Freeform 22">
              <a:extLst>
                <a:ext uri="{FF2B5EF4-FFF2-40B4-BE49-F238E27FC236}">
                  <a16:creationId xmlns:a16="http://schemas.microsoft.com/office/drawing/2014/main" id="{25B07E4E-66CB-CA8C-BAC5-3660AC377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3" name="Subtitle 2">
            <a:extLst>
              <a:ext uri="{FF2B5EF4-FFF2-40B4-BE49-F238E27FC236}">
                <a16:creationId xmlns:a16="http://schemas.microsoft.com/office/drawing/2014/main" id="{BC70F61D-E6CB-AFD5-D267-6CE91E273D92}"/>
              </a:ext>
            </a:extLst>
          </p:cNvPr>
          <p:cNvSpPr>
            <a:spLocks noGrp="1"/>
          </p:cNvSpPr>
          <p:nvPr>
            <p:ph type="subTitle" idx="1"/>
          </p:nvPr>
        </p:nvSpPr>
        <p:spPr>
          <a:xfrm>
            <a:off x="243437" y="568800"/>
            <a:ext cx="6585652" cy="6241222"/>
          </a:xfrm>
        </p:spPr>
        <p:txBody>
          <a:bodyPr vert="horz" lIns="91440" tIns="45720" rIns="91440" bIns="45720" rtlCol="0" anchor="ctr">
            <a:normAutofit/>
          </a:bodyPr>
          <a:lstStyle/>
          <a:p>
            <a:pPr marL="342900" marR="0" indent="-342900">
              <a:buFont typeface="Wingdings 3" charset="2"/>
              <a:buChar char=""/>
            </a:pPr>
            <a:endParaRPr lang="en-US" dirty="0">
              <a:solidFill>
                <a:schemeClr val="tx2">
                  <a:lumMod val="75000"/>
                </a:schemeClr>
              </a:solidFill>
              <a:effectLst/>
            </a:endParaRPr>
          </a:p>
          <a:p>
            <a:pPr>
              <a:buFont typeface="Wingdings 3" charset="2"/>
              <a:buChar char=""/>
            </a:pPr>
            <a:endParaRPr lang="en-US" dirty="0">
              <a:solidFill>
                <a:schemeClr val="tx2">
                  <a:lumMod val="75000"/>
                </a:schemeClr>
              </a:solidFill>
            </a:endParaRPr>
          </a:p>
        </p:txBody>
      </p:sp>
      <p:sp>
        <p:nvSpPr>
          <p:cNvPr id="6" name="Title 5">
            <a:extLst>
              <a:ext uri="{FF2B5EF4-FFF2-40B4-BE49-F238E27FC236}">
                <a16:creationId xmlns:a16="http://schemas.microsoft.com/office/drawing/2014/main" id="{A5E9FCD5-6D45-F46D-9569-173D62755633}"/>
              </a:ext>
            </a:extLst>
          </p:cNvPr>
          <p:cNvSpPr>
            <a:spLocks noGrp="1"/>
          </p:cNvSpPr>
          <p:nvPr>
            <p:ph type="ctrTitle"/>
          </p:nvPr>
        </p:nvSpPr>
        <p:spPr>
          <a:xfrm>
            <a:off x="205245" y="47978"/>
            <a:ext cx="5812859" cy="582611"/>
          </a:xfrm>
        </p:spPr>
        <p:txBody>
          <a:bodyPr>
            <a:normAutofit/>
          </a:bodyPr>
          <a:lstStyle/>
          <a:p>
            <a:r>
              <a:rPr lang="en-US" sz="3200" b="1" dirty="0">
                <a:latin typeface="Times New Roman" panose="02020603050405020304" pitchFamily="18" charset="0"/>
                <a:cs typeface="Times New Roman" panose="02020603050405020304" pitchFamily="18" charset="0"/>
              </a:rPr>
              <a:t>LOGISTIC REGRESSION</a:t>
            </a:r>
            <a:endParaRPr lang="en-US" sz="3200" dirty="0"/>
          </a:p>
        </p:txBody>
      </p:sp>
      <p:pic>
        <p:nvPicPr>
          <p:cNvPr id="7" name="Picture 2" descr="Uploaded image">
            <a:extLst>
              <a:ext uri="{FF2B5EF4-FFF2-40B4-BE49-F238E27FC236}">
                <a16:creationId xmlns:a16="http://schemas.microsoft.com/office/drawing/2014/main" id="{11774C44-778E-5D9C-6FE4-AA71D0A62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9749" y="1878995"/>
            <a:ext cx="4757512" cy="2050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B265909-842E-366C-F1C4-DE61E085B310}"/>
              </a:ext>
            </a:extLst>
          </p:cNvPr>
          <p:cNvSpPr txBox="1"/>
          <p:nvPr/>
        </p:nvSpPr>
        <p:spPr>
          <a:xfrm>
            <a:off x="8495760" y="3959370"/>
            <a:ext cx="3209381" cy="276999"/>
          </a:xfrm>
          <a:prstGeom prst="rect">
            <a:avLst/>
          </a:prstGeom>
          <a:noFill/>
        </p:spPr>
        <p:txBody>
          <a:bodyPr wrap="square">
            <a:spAutoFit/>
          </a:bodyPr>
          <a:lstStyle/>
          <a:p>
            <a:r>
              <a:rPr lang="en-US" sz="1200" b="1" dirty="0">
                <a:latin typeface="Times New Roman" panose="02020603050405020304" pitchFamily="18" charset="0"/>
                <a:cs typeface="Times New Roman" panose="02020603050405020304" pitchFamily="18" charset="0"/>
              </a:rPr>
              <a:t>TOP SIGNIFICANT PREDICTORS</a:t>
            </a:r>
          </a:p>
        </p:txBody>
      </p:sp>
      <p:sp>
        <p:nvSpPr>
          <p:cNvPr id="11" name="TextBox 10">
            <a:extLst>
              <a:ext uri="{FF2B5EF4-FFF2-40B4-BE49-F238E27FC236}">
                <a16:creationId xmlns:a16="http://schemas.microsoft.com/office/drawing/2014/main" id="{9E6FFA92-C2F2-976F-B494-DB6F8927CF82}"/>
              </a:ext>
            </a:extLst>
          </p:cNvPr>
          <p:cNvSpPr txBox="1"/>
          <p:nvPr/>
        </p:nvSpPr>
        <p:spPr>
          <a:xfrm>
            <a:off x="252615" y="667682"/>
            <a:ext cx="6422164" cy="4555093"/>
          </a:xfrm>
          <a:prstGeom prst="rect">
            <a:avLst/>
          </a:prstGeom>
          <a:noFill/>
        </p:spPr>
        <p:txBody>
          <a:bodyPr wrap="square" rtlCol="0">
            <a:spAutoFit/>
          </a:bodyPr>
          <a:lstStyle/>
          <a:p>
            <a:r>
              <a:rPr lang="en-US" sz="1600" dirty="0"/>
              <a:t>According to the Logistic Regression output –</a:t>
            </a:r>
          </a:p>
          <a:p>
            <a:endParaRPr lang="en-US" sz="1600" dirty="0"/>
          </a:p>
          <a:p>
            <a:r>
              <a:rPr lang="en-US" sz="1600" dirty="0"/>
              <a:t>-The model is statistically significant with a low p-value.</a:t>
            </a:r>
          </a:p>
          <a:p>
            <a:endParaRPr lang="en-US" sz="1600" dirty="0"/>
          </a:p>
          <a:p>
            <a:r>
              <a:rPr lang="en-US" sz="1600" dirty="0"/>
              <a:t>The significant predictors of churn are Contract, Number of referrals, premium tech support, and referred a friend, all of them having p-values less than 0.0001. On the other hand, Age (p = 0.0507) and Internet Type (p=0.08140).</a:t>
            </a:r>
          </a:p>
          <a:p>
            <a:endParaRPr lang="en-US" sz="1600" dirty="0"/>
          </a:p>
          <a:p>
            <a:r>
              <a:rPr lang="en-US" sz="1600" dirty="0"/>
              <a:t>According to the event classification table, this model correctly identified 4055 True negatives, and 1352 True positives in the training dataset with 83 false positives and 142 false negatives. In the validation dataset, the model achieved similar accuracy with 1016 True negatives and 350 True positives with 25 False negatives and 20 False positives. These low rates of the model indicate strong predictive accuracy.</a:t>
            </a:r>
          </a:p>
          <a:p>
            <a:endParaRPr lang="en-US" sz="1600" dirty="0"/>
          </a:p>
          <a:p>
            <a:endParaRPr lang="en-US" dirty="0"/>
          </a:p>
        </p:txBody>
      </p:sp>
      <p:pic>
        <p:nvPicPr>
          <p:cNvPr id="13" name="Picture 12">
            <a:extLst>
              <a:ext uri="{FF2B5EF4-FFF2-40B4-BE49-F238E27FC236}">
                <a16:creationId xmlns:a16="http://schemas.microsoft.com/office/drawing/2014/main" id="{975DF9F6-5EA1-09FA-61CC-39A67884068F}"/>
              </a:ext>
            </a:extLst>
          </p:cNvPr>
          <p:cNvPicPr>
            <a:picLocks noChangeAspect="1"/>
          </p:cNvPicPr>
          <p:nvPr/>
        </p:nvPicPr>
        <p:blipFill>
          <a:blip r:embed="rId3"/>
          <a:stretch>
            <a:fillRect/>
          </a:stretch>
        </p:blipFill>
        <p:spPr>
          <a:xfrm>
            <a:off x="6979208" y="61487"/>
            <a:ext cx="4814863" cy="1376825"/>
          </a:xfrm>
          <a:prstGeom prst="rect">
            <a:avLst/>
          </a:prstGeom>
        </p:spPr>
      </p:pic>
      <p:sp>
        <p:nvSpPr>
          <p:cNvPr id="14" name="TextBox 13">
            <a:extLst>
              <a:ext uri="{FF2B5EF4-FFF2-40B4-BE49-F238E27FC236}">
                <a16:creationId xmlns:a16="http://schemas.microsoft.com/office/drawing/2014/main" id="{3FC6DDFD-E15C-F25D-C1C6-B9BE4AE2BDB2}"/>
              </a:ext>
            </a:extLst>
          </p:cNvPr>
          <p:cNvSpPr txBox="1"/>
          <p:nvPr/>
        </p:nvSpPr>
        <p:spPr>
          <a:xfrm>
            <a:off x="8457830" y="1428748"/>
            <a:ext cx="291831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MODEL SIGNIFICANCE</a:t>
            </a:r>
          </a:p>
        </p:txBody>
      </p:sp>
      <p:pic>
        <p:nvPicPr>
          <p:cNvPr id="16" name="Picture 15">
            <a:extLst>
              <a:ext uri="{FF2B5EF4-FFF2-40B4-BE49-F238E27FC236}">
                <a16:creationId xmlns:a16="http://schemas.microsoft.com/office/drawing/2014/main" id="{34DADEA8-26B4-518C-F79D-46688C48FF63}"/>
              </a:ext>
            </a:extLst>
          </p:cNvPr>
          <p:cNvPicPr>
            <a:picLocks noChangeAspect="1"/>
          </p:cNvPicPr>
          <p:nvPr/>
        </p:nvPicPr>
        <p:blipFill>
          <a:blip r:embed="rId4"/>
          <a:stretch>
            <a:fillRect/>
          </a:stretch>
        </p:blipFill>
        <p:spPr>
          <a:xfrm>
            <a:off x="7036844" y="4236369"/>
            <a:ext cx="4868957" cy="2086153"/>
          </a:xfrm>
          <a:prstGeom prst="rect">
            <a:avLst/>
          </a:prstGeom>
        </p:spPr>
      </p:pic>
      <p:sp>
        <p:nvSpPr>
          <p:cNvPr id="17" name="TextBox 16">
            <a:extLst>
              <a:ext uri="{FF2B5EF4-FFF2-40B4-BE49-F238E27FC236}">
                <a16:creationId xmlns:a16="http://schemas.microsoft.com/office/drawing/2014/main" id="{E8E30A8D-0B93-6A58-0923-CE4DD964841E}"/>
              </a:ext>
            </a:extLst>
          </p:cNvPr>
          <p:cNvSpPr txBox="1"/>
          <p:nvPr/>
        </p:nvSpPr>
        <p:spPr>
          <a:xfrm>
            <a:off x="8577931" y="6421557"/>
            <a:ext cx="3647995"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a:t>
            </a:r>
          </a:p>
        </p:txBody>
      </p:sp>
    </p:spTree>
    <p:extLst>
      <p:ext uri="{BB962C8B-B14F-4D97-AF65-F5344CB8AC3E}">
        <p14:creationId xmlns:p14="http://schemas.microsoft.com/office/powerpoint/2010/main" val="3604115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53D84B-CB47-BC96-F48A-1CA35186EC44}"/>
              </a:ext>
            </a:extLst>
          </p:cNvPr>
          <p:cNvSpPr>
            <a:spLocks noGrp="1"/>
          </p:cNvSpPr>
          <p:nvPr>
            <p:ph type="title"/>
          </p:nvPr>
        </p:nvSpPr>
        <p:spPr>
          <a:xfrm>
            <a:off x="250898" y="40403"/>
            <a:ext cx="3556261" cy="708397"/>
          </a:xfrm>
        </p:spPr>
        <p:txBody>
          <a:bodyPr vert="horz" lIns="91440" tIns="45720" rIns="91440" bIns="45720" rtlCol="0" anchor="t">
            <a:normAutofit fontScale="90000"/>
          </a:bodyPr>
          <a:lstStyle/>
          <a:p>
            <a:r>
              <a:rPr lang="en-US" b="1" dirty="0"/>
              <a:t>DECISION TREES</a:t>
            </a:r>
          </a:p>
        </p:txBody>
      </p:sp>
      <p:sp>
        <p:nvSpPr>
          <p:cNvPr id="17"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4" name="TextBox 3">
            <a:extLst>
              <a:ext uri="{FF2B5EF4-FFF2-40B4-BE49-F238E27FC236}">
                <a16:creationId xmlns:a16="http://schemas.microsoft.com/office/drawing/2014/main" id="{886B37BB-DC7E-3E12-F8AE-79FCAE4D22E8}"/>
              </a:ext>
            </a:extLst>
          </p:cNvPr>
          <p:cNvSpPr txBox="1"/>
          <p:nvPr/>
        </p:nvSpPr>
        <p:spPr>
          <a:xfrm>
            <a:off x="4654296" y="0"/>
            <a:ext cx="7537704" cy="6858000"/>
          </a:xfrm>
          <a:prstGeom prst="rect">
            <a:avLst/>
          </a:prstGeom>
        </p:spPr>
        <p:txBody>
          <a:bodyPr vert="horz" lIns="91440" tIns="45720" rIns="91440" bIns="45720" rtlCol="0">
            <a:normAutofit/>
          </a:bodyPr>
          <a:lstStyle/>
          <a:p>
            <a:pPr>
              <a:spcBef>
                <a:spcPts val="1000"/>
              </a:spcBef>
              <a:buClr>
                <a:schemeClr val="accent1"/>
              </a:buClr>
            </a:pP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Three types of Decision tree models were built.</a:t>
            </a:r>
          </a:p>
          <a:p>
            <a:pPr>
              <a:spcBef>
                <a:spcPts val="1000"/>
              </a:spcBef>
              <a:buClr>
                <a:schemeClr val="accent1"/>
              </a:buClr>
            </a:pPr>
            <a:r>
              <a:rPr lang="en-US" sz="1600" b="1" u="sng" dirty="0">
                <a:solidFill>
                  <a:schemeClr val="tx1">
                    <a:lumMod val="75000"/>
                    <a:lumOff val="25000"/>
                  </a:schemeClr>
                </a:solidFill>
                <a:latin typeface="Times New Roman" panose="02020603050405020304" pitchFamily="18" charset="0"/>
                <a:cs typeface="Times New Roman" panose="02020603050405020304" pitchFamily="18" charset="0"/>
              </a:rPr>
              <a:t>Basic Decision Tree – 2 maximum branches and 6 maximum depth</a:t>
            </a:r>
          </a:p>
          <a:p>
            <a:pPr>
              <a:spcBef>
                <a:spcPts val="1000"/>
              </a:spcBef>
              <a:buClr>
                <a:schemeClr val="accent1"/>
              </a:buClr>
            </a:pP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According to the Decision tree, the key variables that influence churn are Satisfaction score, being the most critical factor with an importance of 1.000, contract and online security with second and third places, respectively. This indicates that customers who are dissatisfied with the services, with month-month contract type are more likely to leave. </a:t>
            </a:r>
          </a:p>
          <a:p>
            <a:pPr>
              <a:spcBef>
                <a:spcPts val="1000"/>
              </a:spcBef>
              <a:buClr>
                <a:schemeClr val="accent1"/>
              </a:buClr>
            </a:pP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The model predicted</a:t>
            </a:r>
            <a:r>
              <a:rPr lang="en-US" sz="1600" dirty="0">
                <a:latin typeface="Times New Roman" panose="02020603050405020304" pitchFamily="18" charset="0"/>
                <a:cs typeface="Times New Roman" panose="02020603050405020304" pitchFamily="18" charset="0"/>
              </a:rPr>
              <a:t> true negatives 4,134 and true positives 1,216 indicate high accuracy, with minimal false positives 4 and false negatives 278 in the training dataset. Similarly, the validation set maintains accuracy, with 1,035 true negatives, 315 true positives, and only one false positive and 60 false negatives.</a:t>
            </a:r>
          </a:p>
          <a:p>
            <a:pPr>
              <a:spcBef>
                <a:spcPts val="1000"/>
              </a:spcBef>
              <a:buClr>
                <a:schemeClr val="accent1"/>
              </a:buClr>
            </a:pPr>
            <a:endParaRPr 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pPr>
            <a:r>
              <a:rPr lang="en-US" sz="1600" b="1" u="sng" dirty="0">
                <a:latin typeface="Times New Roman" panose="02020603050405020304" pitchFamily="18" charset="0"/>
                <a:cs typeface="Times New Roman" panose="02020603050405020304" pitchFamily="18" charset="0"/>
              </a:rPr>
              <a:t>Decision Tree - 6 maximum branches and 20 maximum depth</a:t>
            </a:r>
          </a:p>
          <a:p>
            <a:pPr>
              <a:spcBef>
                <a:spcPts val="1000"/>
              </a:spcBef>
              <a:buClr>
                <a:schemeClr val="accent1"/>
              </a:buClr>
            </a:pPr>
            <a:endParaRPr lang="en-US" sz="1600" b="1" u="sng"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pPr>
            <a:endParaRPr lang="en-US" sz="1600" b="1" u="sng"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pPr>
            <a:endParaRPr 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1FCD839-5F5C-41A8-AB01-4386DC1C717B}"/>
              </a:ext>
            </a:extLst>
          </p:cNvPr>
          <p:cNvPicPr>
            <a:picLocks noChangeAspect="1"/>
          </p:cNvPicPr>
          <p:nvPr/>
        </p:nvPicPr>
        <p:blipFill>
          <a:blip r:embed="rId2"/>
          <a:stretch>
            <a:fillRect/>
          </a:stretch>
        </p:blipFill>
        <p:spPr>
          <a:xfrm>
            <a:off x="-159" y="838901"/>
            <a:ext cx="4572989" cy="1268603"/>
          </a:xfrm>
          <a:prstGeom prst="rect">
            <a:avLst/>
          </a:prstGeom>
        </p:spPr>
      </p:pic>
      <p:pic>
        <p:nvPicPr>
          <p:cNvPr id="13" name="Picture 12">
            <a:extLst>
              <a:ext uri="{FF2B5EF4-FFF2-40B4-BE49-F238E27FC236}">
                <a16:creationId xmlns:a16="http://schemas.microsoft.com/office/drawing/2014/main" id="{0F5F96AE-C310-2739-22B4-11BE9DD67DA9}"/>
              </a:ext>
            </a:extLst>
          </p:cNvPr>
          <p:cNvPicPr>
            <a:picLocks noChangeAspect="1"/>
          </p:cNvPicPr>
          <p:nvPr/>
        </p:nvPicPr>
        <p:blipFill>
          <a:blip r:embed="rId3"/>
          <a:stretch>
            <a:fillRect/>
          </a:stretch>
        </p:blipFill>
        <p:spPr>
          <a:xfrm>
            <a:off x="-159" y="2489576"/>
            <a:ext cx="4572988" cy="1986729"/>
          </a:xfrm>
          <a:prstGeom prst="rect">
            <a:avLst/>
          </a:prstGeom>
        </p:spPr>
      </p:pic>
      <p:sp>
        <p:nvSpPr>
          <p:cNvPr id="14" name="TextBox 13">
            <a:extLst>
              <a:ext uri="{FF2B5EF4-FFF2-40B4-BE49-F238E27FC236}">
                <a16:creationId xmlns:a16="http://schemas.microsoft.com/office/drawing/2014/main" id="{6F02F626-6DB0-EC08-3B46-1E1DC25CB345}"/>
              </a:ext>
            </a:extLst>
          </p:cNvPr>
          <p:cNvSpPr txBox="1"/>
          <p:nvPr/>
        </p:nvSpPr>
        <p:spPr>
          <a:xfrm>
            <a:off x="919963" y="2099653"/>
            <a:ext cx="369360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VARIABLE IMPORTANCE</a:t>
            </a:r>
          </a:p>
        </p:txBody>
      </p:sp>
      <p:sp>
        <p:nvSpPr>
          <p:cNvPr id="16" name="TextBox 15">
            <a:extLst>
              <a:ext uri="{FF2B5EF4-FFF2-40B4-BE49-F238E27FC236}">
                <a16:creationId xmlns:a16="http://schemas.microsoft.com/office/drawing/2014/main" id="{0C2F5BC5-67D9-7D48-5AA4-869A82201764}"/>
              </a:ext>
            </a:extLst>
          </p:cNvPr>
          <p:cNvSpPr txBox="1"/>
          <p:nvPr/>
        </p:nvSpPr>
        <p:spPr>
          <a:xfrm>
            <a:off x="979200" y="4464853"/>
            <a:ext cx="3411159"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 OF DECISION TREE 1- 2&amp;6</a:t>
            </a:r>
          </a:p>
        </p:txBody>
      </p:sp>
      <p:pic>
        <p:nvPicPr>
          <p:cNvPr id="19" name="Picture 18">
            <a:extLst>
              <a:ext uri="{FF2B5EF4-FFF2-40B4-BE49-F238E27FC236}">
                <a16:creationId xmlns:a16="http://schemas.microsoft.com/office/drawing/2014/main" id="{120510A5-6AED-A881-B77B-592824DB89B8}"/>
              </a:ext>
            </a:extLst>
          </p:cNvPr>
          <p:cNvPicPr>
            <a:picLocks noChangeAspect="1"/>
          </p:cNvPicPr>
          <p:nvPr/>
        </p:nvPicPr>
        <p:blipFill>
          <a:blip r:embed="rId4"/>
          <a:stretch>
            <a:fillRect/>
          </a:stretch>
        </p:blipFill>
        <p:spPr>
          <a:xfrm>
            <a:off x="8426828" y="4135275"/>
            <a:ext cx="3695509" cy="2039328"/>
          </a:xfrm>
          <a:prstGeom prst="rect">
            <a:avLst/>
          </a:prstGeom>
        </p:spPr>
      </p:pic>
      <p:sp>
        <p:nvSpPr>
          <p:cNvPr id="20" name="TextBox 19">
            <a:extLst>
              <a:ext uri="{FF2B5EF4-FFF2-40B4-BE49-F238E27FC236}">
                <a16:creationId xmlns:a16="http://schemas.microsoft.com/office/drawing/2014/main" id="{BBDAFBDD-282A-1B1D-C23F-6F6199DF7B2F}"/>
              </a:ext>
            </a:extLst>
          </p:cNvPr>
          <p:cNvSpPr txBox="1"/>
          <p:nvPr/>
        </p:nvSpPr>
        <p:spPr>
          <a:xfrm>
            <a:off x="8639049" y="6213167"/>
            <a:ext cx="3271066" cy="46166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 FOR DECISION TREE- 6&amp;20</a:t>
            </a:r>
          </a:p>
        </p:txBody>
      </p:sp>
      <p:sp>
        <p:nvSpPr>
          <p:cNvPr id="21" name="TextBox 20">
            <a:extLst>
              <a:ext uri="{FF2B5EF4-FFF2-40B4-BE49-F238E27FC236}">
                <a16:creationId xmlns:a16="http://schemas.microsoft.com/office/drawing/2014/main" id="{45D60116-324C-BF7B-8A15-B64DBABD56BD}"/>
              </a:ext>
            </a:extLst>
          </p:cNvPr>
          <p:cNvSpPr txBox="1"/>
          <p:nvPr/>
        </p:nvSpPr>
        <p:spPr>
          <a:xfrm>
            <a:off x="4802400" y="4003200"/>
            <a:ext cx="3542961" cy="2554545"/>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event classification table indicates that the model is performing well in distinguishing churn from non-churn cases. In the training set, there are 4,074 true negatives and 1,325 true positives, with 64 false positives and 169 false negatives. For the validation set, there are 1,022 true negatives and 335 true positives, with only 14 false positives and 40 false negatives. </a:t>
            </a:r>
          </a:p>
        </p:txBody>
      </p:sp>
    </p:spTree>
    <p:extLst>
      <p:ext uri="{BB962C8B-B14F-4D97-AF65-F5344CB8AC3E}">
        <p14:creationId xmlns:p14="http://schemas.microsoft.com/office/powerpoint/2010/main" val="335687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06B45-25EE-434D-ABA9-A27B79320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D216E9-5A43-0678-076A-8B280EFE0786}"/>
              </a:ext>
            </a:extLst>
          </p:cNvPr>
          <p:cNvSpPr>
            <a:spLocks noGrp="1"/>
          </p:cNvSpPr>
          <p:nvPr>
            <p:ph type="title"/>
          </p:nvPr>
        </p:nvSpPr>
        <p:spPr>
          <a:xfrm>
            <a:off x="219611" y="3917"/>
            <a:ext cx="7412390" cy="723283"/>
          </a:xfrm>
        </p:spPr>
        <p:txBody>
          <a:bodyPr anchor="ctr">
            <a:normAutofit/>
          </a:bodyPr>
          <a:lstStyle/>
          <a:p>
            <a:r>
              <a:rPr lang="en-US" sz="3200" b="1" dirty="0">
                <a:solidFill>
                  <a:schemeClr val="tx1"/>
                </a:solidFill>
                <a:latin typeface="Times New Roman" panose="02020603050405020304" pitchFamily="18" charset="0"/>
                <a:cs typeface="Times New Roman" panose="02020603050405020304" pitchFamily="18" charset="0"/>
              </a:rPr>
              <a:t>DECISION TREE - CONTINUED</a:t>
            </a:r>
          </a:p>
        </p:txBody>
      </p:sp>
      <p:sp>
        <p:nvSpPr>
          <p:cNvPr id="10" name="Rectangle 9">
            <a:extLst>
              <a:ext uri="{FF2B5EF4-FFF2-40B4-BE49-F238E27FC236}">
                <a16:creationId xmlns:a16="http://schemas.microsoft.com/office/drawing/2014/main" id="{0A42F85E-4939-431E-8B4A-EC07C8E0A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27EBB3F9-D6F7-4F6A-8843-9FEBA15E49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71831"/>
            <a:ext cx="0" cy="3200400"/>
          </a:xfrm>
          <a:prstGeom prst="line">
            <a:avLst/>
          </a:prstGeom>
          <a:ln w="15875">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5D2B17EF-74EB-4C33-B2E2-8E727B2E7D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1">
              <a:alpha val="30000"/>
            </a:schemeClr>
          </a:solidFill>
        </p:grpSpPr>
        <p:sp>
          <p:nvSpPr>
            <p:cNvPr id="15" name="Freeform 11">
              <a:extLst>
                <a:ext uri="{FF2B5EF4-FFF2-40B4-BE49-F238E27FC236}">
                  <a16:creationId xmlns:a16="http://schemas.microsoft.com/office/drawing/2014/main" id="{0A5F1F8A-3206-4B86-883F-65E98BB6E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6" name="Freeform 12">
              <a:extLst>
                <a:ext uri="{FF2B5EF4-FFF2-40B4-BE49-F238E27FC236}">
                  <a16:creationId xmlns:a16="http://schemas.microsoft.com/office/drawing/2014/main" id="{6935F8C7-CC88-4243-9786-F3CDBF04A0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7" name="Freeform 13">
              <a:extLst>
                <a:ext uri="{FF2B5EF4-FFF2-40B4-BE49-F238E27FC236}">
                  <a16:creationId xmlns:a16="http://schemas.microsoft.com/office/drawing/2014/main" id="{9AF7BAD9-71B3-40D8-A089-EFF7FE67B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8" name="Freeform 14">
              <a:extLst>
                <a:ext uri="{FF2B5EF4-FFF2-40B4-BE49-F238E27FC236}">
                  <a16:creationId xmlns:a16="http://schemas.microsoft.com/office/drawing/2014/main" id="{6467094F-AEF0-4D3B-BB76-8B3C1F08B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9" name="Freeform 15">
              <a:extLst>
                <a:ext uri="{FF2B5EF4-FFF2-40B4-BE49-F238E27FC236}">
                  <a16:creationId xmlns:a16="http://schemas.microsoft.com/office/drawing/2014/main" id="{36F56AF9-DEF1-44E7-BF42-6AAC1AA9D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20" name="Freeform 16">
              <a:extLst>
                <a:ext uri="{FF2B5EF4-FFF2-40B4-BE49-F238E27FC236}">
                  <a16:creationId xmlns:a16="http://schemas.microsoft.com/office/drawing/2014/main" id="{A43EBE71-20BA-4A40-A513-516678089D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21" name="Freeform 17">
              <a:extLst>
                <a:ext uri="{FF2B5EF4-FFF2-40B4-BE49-F238E27FC236}">
                  <a16:creationId xmlns:a16="http://schemas.microsoft.com/office/drawing/2014/main" id="{1DB39648-7B38-4D0B-93C5-048EC4A45C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22" name="Freeform 18">
              <a:extLst>
                <a:ext uri="{FF2B5EF4-FFF2-40B4-BE49-F238E27FC236}">
                  <a16:creationId xmlns:a16="http://schemas.microsoft.com/office/drawing/2014/main" id="{8DD2661F-DE5F-45EA-B30B-7C6589638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3" name="Freeform 19">
              <a:extLst>
                <a:ext uri="{FF2B5EF4-FFF2-40B4-BE49-F238E27FC236}">
                  <a16:creationId xmlns:a16="http://schemas.microsoft.com/office/drawing/2014/main" id="{ABF0A0E5-E68E-4183-A913-228692FD85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4" name="Freeform 20">
              <a:extLst>
                <a:ext uri="{FF2B5EF4-FFF2-40B4-BE49-F238E27FC236}">
                  <a16:creationId xmlns:a16="http://schemas.microsoft.com/office/drawing/2014/main" id="{615D8F55-8ACD-4EFE-A832-06E78547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5" name="Freeform 21">
              <a:extLst>
                <a:ext uri="{FF2B5EF4-FFF2-40B4-BE49-F238E27FC236}">
                  <a16:creationId xmlns:a16="http://schemas.microsoft.com/office/drawing/2014/main" id="{0FDF4201-8CEC-474B-A6B1-88039B704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6" name="Freeform 22">
              <a:extLst>
                <a:ext uri="{FF2B5EF4-FFF2-40B4-BE49-F238E27FC236}">
                  <a16:creationId xmlns:a16="http://schemas.microsoft.com/office/drawing/2014/main" id="{0F60AEA4-B25F-417E-93FC-59686D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4" name="TextBox 3">
            <a:extLst>
              <a:ext uri="{FF2B5EF4-FFF2-40B4-BE49-F238E27FC236}">
                <a16:creationId xmlns:a16="http://schemas.microsoft.com/office/drawing/2014/main" id="{8C9FD72E-3E34-70DC-A831-6ABBDBEB379D}"/>
              </a:ext>
            </a:extLst>
          </p:cNvPr>
          <p:cNvSpPr txBox="1"/>
          <p:nvPr/>
        </p:nvSpPr>
        <p:spPr>
          <a:xfrm>
            <a:off x="331200" y="777600"/>
            <a:ext cx="4277842" cy="3046988"/>
          </a:xfrm>
          <a:prstGeom prst="rect">
            <a:avLst/>
          </a:prstGeom>
          <a:noFill/>
        </p:spPr>
        <p:txBody>
          <a:bodyPr wrap="square" rtlCol="0">
            <a:spAutoFit/>
          </a:bodyPr>
          <a:lstStyle/>
          <a:p>
            <a:r>
              <a:rPr lang="en-US" sz="1600" b="1" u="sng" dirty="0">
                <a:latin typeface="Times New Roman" panose="02020603050405020304" pitchFamily="18" charset="0"/>
                <a:cs typeface="Times New Roman" panose="02020603050405020304" pitchFamily="18" charset="0"/>
              </a:rPr>
              <a:t>DECISION TREE- 10 maximum branches and 25 maximum depth</a:t>
            </a:r>
          </a:p>
          <a:p>
            <a:pPr algn="just"/>
            <a:r>
              <a:rPr lang="en-US" sz="1600" dirty="0">
                <a:latin typeface="Times New Roman" panose="02020603050405020304" pitchFamily="18" charset="0"/>
                <a:cs typeface="Times New Roman" panose="02020603050405020304" pitchFamily="18" charset="0"/>
              </a:rPr>
              <a:t>The model with 10 maximum branches and 25 maximum depth did not yield any different prediction from the previous model as it predicted the same confusion matrix.</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We have compared the Three decision tree models using a model comparison node. Decision Tree- 6 maximum branches and 20 Depth was an optimal decision tree model </a:t>
            </a:r>
            <a:r>
              <a:rPr lang="en-US" sz="1600" dirty="0">
                <a:highlight>
                  <a:srgbClr val="FFFF00"/>
                </a:highlight>
                <a:latin typeface="Times New Roman" panose="02020603050405020304" pitchFamily="18" charset="0"/>
                <a:cs typeface="Times New Roman" panose="02020603050405020304" pitchFamily="18" charset="0"/>
              </a:rPr>
              <a:t>with a lowest misclassification rate of 0.0387</a:t>
            </a:r>
            <a:r>
              <a:rPr lang="en-US" sz="1600" dirty="0">
                <a:latin typeface="Times New Roman" panose="02020603050405020304" pitchFamily="18" charset="0"/>
                <a:cs typeface="Times New Roman" panose="02020603050405020304" pitchFamily="18" charset="0"/>
              </a:rPr>
              <a:t>. </a:t>
            </a:r>
          </a:p>
        </p:txBody>
      </p:sp>
      <p:sp>
        <p:nvSpPr>
          <p:cNvPr id="33" name="TextBox 32">
            <a:extLst>
              <a:ext uri="{FF2B5EF4-FFF2-40B4-BE49-F238E27FC236}">
                <a16:creationId xmlns:a16="http://schemas.microsoft.com/office/drawing/2014/main" id="{60096BE7-D7CB-B385-E976-35E3D5C5AF3E}"/>
              </a:ext>
            </a:extLst>
          </p:cNvPr>
          <p:cNvSpPr txBox="1"/>
          <p:nvPr/>
        </p:nvSpPr>
        <p:spPr>
          <a:xfrm>
            <a:off x="518173" y="6339567"/>
            <a:ext cx="352177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MODEL COMPARISON OF DECISION TREES</a:t>
            </a:r>
          </a:p>
        </p:txBody>
      </p:sp>
      <p:pic>
        <p:nvPicPr>
          <p:cNvPr id="37" name="Picture 36">
            <a:extLst>
              <a:ext uri="{FF2B5EF4-FFF2-40B4-BE49-F238E27FC236}">
                <a16:creationId xmlns:a16="http://schemas.microsoft.com/office/drawing/2014/main" id="{625E1284-124D-6F5B-AF32-A85E8CBB0B7C}"/>
              </a:ext>
            </a:extLst>
          </p:cNvPr>
          <p:cNvPicPr>
            <a:picLocks noChangeAspect="1"/>
          </p:cNvPicPr>
          <p:nvPr/>
        </p:nvPicPr>
        <p:blipFill>
          <a:blip r:embed="rId2"/>
          <a:stretch>
            <a:fillRect/>
          </a:stretch>
        </p:blipFill>
        <p:spPr>
          <a:xfrm>
            <a:off x="5175233" y="988587"/>
            <a:ext cx="6924548" cy="5826318"/>
          </a:xfrm>
          <a:prstGeom prst="rect">
            <a:avLst/>
          </a:prstGeom>
        </p:spPr>
      </p:pic>
      <p:pic>
        <p:nvPicPr>
          <p:cNvPr id="39" name="Picture 38">
            <a:extLst>
              <a:ext uri="{FF2B5EF4-FFF2-40B4-BE49-F238E27FC236}">
                <a16:creationId xmlns:a16="http://schemas.microsoft.com/office/drawing/2014/main" id="{FB70B209-F24C-9C38-6D56-5A8ED8E8814E}"/>
              </a:ext>
            </a:extLst>
          </p:cNvPr>
          <p:cNvPicPr>
            <a:picLocks noChangeAspect="1"/>
          </p:cNvPicPr>
          <p:nvPr/>
        </p:nvPicPr>
        <p:blipFill>
          <a:blip r:embed="rId3"/>
          <a:stretch>
            <a:fillRect/>
          </a:stretch>
        </p:blipFill>
        <p:spPr>
          <a:xfrm>
            <a:off x="219611" y="3931332"/>
            <a:ext cx="4240309" cy="2050581"/>
          </a:xfrm>
          <a:prstGeom prst="rect">
            <a:avLst/>
          </a:prstGeom>
        </p:spPr>
      </p:pic>
      <p:sp>
        <p:nvSpPr>
          <p:cNvPr id="40" name="TextBox 39">
            <a:extLst>
              <a:ext uri="{FF2B5EF4-FFF2-40B4-BE49-F238E27FC236}">
                <a16:creationId xmlns:a16="http://schemas.microsoft.com/office/drawing/2014/main" id="{6A57B08E-347B-3852-913F-3AFEBBB0A3F1}"/>
              </a:ext>
            </a:extLst>
          </p:cNvPr>
          <p:cNvSpPr txBox="1"/>
          <p:nvPr/>
        </p:nvSpPr>
        <p:spPr>
          <a:xfrm>
            <a:off x="6477000" y="695233"/>
            <a:ext cx="499745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TREE DIAGRAM OF DECISION TREE 6 BRANCHES AND 20 DEPTH</a:t>
            </a:r>
          </a:p>
        </p:txBody>
      </p:sp>
    </p:spTree>
    <p:extLst>
      <p:ext uri="{BB962C8B-B14F-4D97-AF65-F5344CB8AC3E}">
        <p14:creationId xmlns:p14="http://schemas.microsoft.com/office/powerpoint/2010/main" val="2237698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6F93-9743-6541-464C-68EE7C27B3AD}"/>
              </a:ext>
            </a:extLst>
          </p:cNvPr>
          <p:cNvSpPr>
            <a:spLocks noGrp="1"/>
          </p:cNvSpPr>
          <p:nvPr>
            <p:ph type="title"/>
          </p:nvPr>
        </p:nvSpPr>
        <p:spPr>
          <a:xfrm>
            <a:off x="2592926" y="624110"/>
            <a:ext cx="4633466" cy="1280890"/>
          </a:xfrm>
        </p:spPr>
        <p:txBody>
          <a:bodyPr>
            <a:normAutofit/>
          </a:bodyPr>
          <a:lstStyle/>
          <a:p>
            <a:r>
              <a:rPr lang="en-US" b="1">
                <a:latin typeface="Times New Roman" panose="02020603050405020304" pitchFamily="18" charset="0"/>
                <a:cs typeface="Times New Roman" panose="02020603050405020304" pitchFamily="18" charset="0"/>
              </a:rPr>
              <a:t>HP FOREST (RANDOM FOREST)</a:t>
            </a:r>
          </a:p>
        </p:txBody>
      </p:sp>
      <p:sp>
        <p:nvSpPr>
          <p:cNvPr id="3" name="Content Placeholder 2">
            <a:extLst>
              <a:ext uri="{FF2B5EF4-FFF2-40B4-BE49-F238E27FC236}">
                <a16:creationId xmlns:a16="http://schemas.microsoft.com/office/drawing/2014/main" id="{509ABFD3-C19D-C2F9-4374-228F6C6FDDD3}"/>
              </a:ext>
            </a:extLst>
          </p:cNvPr>
          <p:cNvSpPr>
            <a:spLocks noGrp="1"/>
          </p:cNvSpPr>
          <p:nvPr>
            <p:ph idx="1"/>
          </p:nvPr>
        </p:nvSpPr>
        <p:spPr>
          <a:xfrm>
            <a:off x="1955801" y="1905001"/>
            <a:ext cx="5359400" cy="4794250"/>
          </a:xfrm>
        </p:spPr>
        <p:txBody>
          <a:bodyPr>
            <a:normAutofit/>
          </a:bodyPr>
          <a:lstStyle/>
          <a:p>
            <a:r>
              <a:rPr lang="en-US" dirty="0">
                <a:latin typeface="Times New Roman" panose="02020603050405020304" pitchFamily="18" charset="0"/>
                <a:cs typeface="Times New Roman" panose="02020603050405020304" pitchFamily="18" charset="0"/>
              </a:rPr>
              <a:t>The random forest model had 100 number of trees. </a:t>
            </a:r>
          </a:p>
          <a:p>
            <a:r>
              <a:rPr lang="en-US" dirty="0">
                <a:latin typeface="Times New Roman" panose="02020603050405020304" pitchFamily="18" charset="0"/>
                <a:cs typeface="Times New Roman" panose="02020603050405020304" pitchFamily="18" charset="0"/>
              </a:rPr>
              <a:t>The model accurately predicted 4122 cases of non-churn, and 1421 cases of churn. 16 false positives and 73 false negatives in the training dataset.</a:t>
            </a:r>
          </a:p>
          <a:p>
            <a:r>
              <a:rPr lang="en-US" dirty="0">
                <a:latin typeface="Times New Roman" panose="02020603050405020304" pitchFamily="18" charset="0"/>
                <a:cs typeface="Times New Roman" panose="02020603050405020304" pitchFamily="18" charset="0"/>
              </a:rPr>
              <a:t>In the validation dataset, the model accurately predicted 1021 no churn cases, and 343 churn cases. 15 false positives and 32 false negatives were predicted by this model in the validation set.</a:t>
            </a:r>
          </a:p>
          <a:p>
            <a:r>
              <a:rPr lang="en-US" dirty="0">
                <a:latin typeface="Times New Roman" panose="02020603050405020304" pitchFamily="18" charset="0"/>
                <a:cs typeface="Times New Roman" panose="02020603050405020304" pitchFamily="18" charset="0"/>
              </a:rPr>
              <a:t>The model had </a:t>
            </a:r>
            <a:r>
              <a:rPr lang="en-US" dirty="0">
                <a:highlight>
                  <a:srgbClr val="FFFF00"/>
                </a:highlight>
                <a:latin typeface="Times New Roman" panose="02020603050405020304" pitchFamily="18" charset="0"/>
                <a:cs typeface="Times New Roman" panose="02020603050405020304" pitchFamily="18" charset="0"/>
              </a:rPr>
              <a:t>a misclassification rate of 0.03 in the validation set.</a:t>
            </a:r>
          </a:p>
          <a:p>
            <a:pPr marL="0" indent="0">
              <a:buNone/>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D8FE22B1-285E-410C-FF00-614FC2E1AD55}"/>
              </a:ext>
            </a:extLst>
          </p:cNvPr>
          <p:cNvPicPr>
            <a:picLocks noChangeAspect="1"/>
          </p:cNvPicPr>
          <p:nvPr/>
        </p:nvPicPr>
        <p:blipFill>
          <a:blip r:embed="rId2"/>
          <a:stretch>
            <a:fillRect/>
          </a:stretch>
        </p:blipFill>
        <p:spPr>
          <a:xfrm>
            <a:off x="7562088" y="785759"/>
            <a:ext cx="3981455" cy="2260271"/>
          </a:xfrm>
          <a:prstGeom prst="rect">
            <a:avLst/>
          </a:prstGeom>
        </p:spPr>
      </p:pic>
      <p:pic>
        <p:nvPicPr>
          <p:cNvPr id="29" name="Picture 28" descr="A white sheet with black text&#10;&#10;Description automatically generated">
            <a:extLst>
              <a:ext uri="{FF2B5EF4-FFF2-40B4-BE49-F238E27FC236}">
                <a16:creationId xmlns:a16="http://schemas.microsoft.com/office/drawing/2014/main" id="{785C08E5-AC5A-A5F1-A2D1-3EC4C2959040}"/>
              </a:ext>
            </a:extLst>
          </p:cNvPr>
          <p:cNvPicPr>
            <a:picLocks noChangeAspect="1"/>
          </p:cNvPicPr>
          <p:nvPr/>
        </p:nvPicPr>
        <p:blipFill>
          <a:blip r:embed="rId3"/>
          <a:stretch>
            <a:fillRect/>
          </a:stretch>
        </p:blipFill>
        <p:spPr>
          <a:xfrm>
            <a:off x="7562087" y="3678931"/>
            <a:ext cx="3981455" cy="1886266"/>
          </a:xfrm>
          <a:prstGeom prst="rect">
            <a:avLst/>
          </a:prstGeom>
        </p:spPr>
      </p:pic>
      <p:sp>
        <p:nvSpPr>
          <p:cNvPr id="6" name="AutoShape 2" descr="Uploaded image">
            <a:extLst>
              <a:ext uri="{FF2B5EF4-FFF2-40B4-BE49-F238E27FC236}">
                <a16:creationId xmlns:a16="http://schemas.microsoft.com/office/drawing/2014/main" id="{2943FDBF-F318-D088-4DF7-FC5FE08709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TextBox 29">
            <a:extLst>
              <a:ext uri="{FF2B5EF4-FFF2-40B4-BE49-F238E27FC236}">
                <a16:creationId xmlns:a16="http://schemas.microsoft.com/office/drawing/2014/main" id="{E1DE4D00-DC2B-BBE0-B135-D09A0A514813}"/>
              </a:ext>
            </a:extLst>
          </p:cNvPr>
          <p:cNvSpPr txBox="1"/>
          <p:nvPr/>
        </p:nvSpPr>
        <p:spPr>
          <a:xfrm>
            <a:off x="8655050" y="485610"/>
            <a:ext cx="358775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 </a:t>
            </a:r>
          </a:p>
        </p:txBody>
      </p:sp>
      <p:sp>
        <p:nvSpPr>
          <p:cNvPr id="47" name="TextBox 46">
            <a:extLst>
              <a:ext uri="{FF2B5EF4-FFF2-40B4-BE49-F238E27FC236}">
                <a16:creationId xmlns:a16="http://schemas.microsoft.com/office/drawing/2014/main" id="{6783A5FB-F376-9362-9AEA-E6720D997891}"/>
              </a:ext>
            </a:extLst>
          </p:cNvPr>
          <p:cNvSpPr txBox="1"/>
          <p:nvPr/>
        </p:nvSpPr>
        <p:spPr>
          <a:xfrm>
            <a:off x="8655050" y="3428999"/>
            <a:ext cx="2724150"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FIT STATISTICS</a:t>
            </a:r>
          </a:p>
        </p:txBody>
      </p:sp>
    </p:spTree>
    <p:extLst>
      <p:ext uri="{BB962C8B-B14F-4D97-AF65-F5344CB8AC3E}">
        <p14:creationId xmlns:p14="http://schemas.microsoft.com/office/powerpoint/2010/main" val="1159549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6813CB-E83F-0FB3-AA48-DAB848F3735E}"/>
              </a:ext>
            </a:extLst>
          </p:cNvPr>
          <p:cNvSpPr>
            <a:spLocks noGrp="1"/>
          </p:cNvSpPr>
          <p:nvPr>
            <p:ph type="title"/>
          </p:nvPr>
        </p:nvSpPr>
        <p:spPr>
          <a:xfrm>
            <a:off x="376174" y="159574"/>
            <a:ext cx="5719826" cy="723076"/>
          </a:xfrm>
        </p:spPr>
        <p:txBody>
          <a:bodyPr>
            <a:normAutofit fontScale="90000"/>
          </a:bodyPr>
          <a:lstStyle/>
          <a:p>
            <a:r>
              <a:rPr lang="en-US" sz="3200" b="1" dirty="0">
                <a:latin typeface="Times New Roman" panose="02020603050405020304" pitchFamily="18" charset="0"/>
                <a:cs typeface="Times New Roman" panose="02020603050405020304" pitchFamily="18" charset="0"/>
              </a:rPr>
              <a:t>NEURAL NETWORKS</a:t>
            </a:r>
            <a:br>
              <a:rPr lang="en-US" sz="3200" b="1" dirty="0">
                <a:latin typeface="Times New Roman" panose="02020603050405020304" pitchFamily="18" charset="0"/>
                <a:cs typeface="Times New Roman" panose="02020603050405020304" pitchFamily="18" charset="0"/>
              </a:rPr>
            </a:br>
            <a:endParaRPr lang="en-US" sz="3200" b="1" dirty="0">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ACEEB96-F841-5D29-12C2-565F9DA0E201}"/>
              </a:ext>
            </a:extLst>
          </p:cNvPr>
          <p:cNvSpPr>
            <a:spLocks noGrp="1"/>
          </p:cNvSpPr>
          <p:nvPr>
            <p:ph idx="1"/>
          </p:nvPr>
        </p:nvSpPr>
        <p:spPr>
          <a:xfrm>
            <a:off x="544829" y="786653"/>
            <a:ext cx="4957055" cy="5345206"/>
          </a:xfrm>
        </p:spPr>
        <p:txBody>
          <a:bodyPr>
            <a:normAutofit fontScale="92500" lnSpcReduction="20000"/>
          </a:bodyPr>
          <a:lstStyle/>
          <a:p>
            <a:pPr algn="just"/>
            <a:r>
              <a:rPr lang="en-US" sz="1600" b="1" u="sng" dirty="0">
                <a:latin typeface="Times New Roman" panose="02020603050405020304" pitchFamily="18" charset="0"/>
                <a:cs typeface="Times New Roman" panose="02020603050405020304" pitchFamily="18" charset="0"/>
              </a:rPr>
              <a:t>NEURAL NETWORKS WITH 16 HIDDEN UNITS</a:t>
            </a:r>
          </a:p>
          <a:p>
            <a:pPr algn="just"/>
            <a:r>
              <a:rPr lang="en-US" sz="1600" dirty="0">
                <a:latin typeface="Times New Roman" panose="02020603050405020304" pitchFamily="18" charset="0"/>
                <a:cs typeface="Times New Roman" panose="02020603050405020304" pitchFamily="18" charset="0"/>
              </a:rPr>
              <a:t>The neural network model with 16 hidden units effectively classified churners and non churners. In the training set, it achieves high accuracy, with 4,067 true negatives and 1,354 true positives, alongside low misclassification 71 false positives and 140 false negatives. In the validation set, model achieves 1,021 true negatives and 347 true positives, with only 15 false positives and 28 false negatives</a:t>
            </a:r>
            <a:r>
              <a:rPr lang="en-US" sz="1600" dirty="0"/>
              <a:t>.</a:t>
            </a:r>
          </a:p>
          <a:p>
            <a:pPr marL="0" indent="0" algn="just">
              <a:buNone/>
            </a:pPr>
            <a:r>
              <a:rPr lang="en-US" sz="1600" b="1" u="sng" dirty="0">
                <a:latin typeface="Times New Roman" panose="02020603050405020304" pitchFamily="18" charset="0"/>
                <a:cs typeface="Times New Roman" panose="02020603050405020304" pitchFamily="18" charset="0"/>
              </a:rPr>
              <a:t>AUTO NEURAL NETWORK (ANN)</a:t>
            </a:r>
          </a:p>
          <a:p>
            <a:pPr algn="just"/>
            <a:r>
              <a:rPr lang="en-US" sz="1600" dirty="0">
                <a:latin typeface="Times New Roman" panose="02020603050405020304" pitchFamily="18" charset="0"/>
                <a:cs typeface="Times New Roman" panose="02020603050405020304" pitchFamily="18" charset="0"/>
              </a:rPr>
              <a:t>The Auto neural network model was built with maximum 20 iterations and 3 hidden units (default properties).</a:t>
            </a:r>
          </a:p>
          <a:p>
            <a:pPr algn="just"/>
            <a:r>
              <a:rPr lang="en-US" sz="1600" dirty="0">
                <a:latin typeface="Times New Roman" panose="02020603050405020304" pitchFamily="18" charset="0"/>
                <a:cs typeface="Times New Roman" panose="02020603050405020304" pitchFamily="18" charset="0"/>
              </a:rPr>
              <a:t>The model was able to classify 4067 no churn cases and 1377 churn cases correctly, with 71 false positives and 117 false negatives in the training dataset.</a:t>
            </a:r>
          </a:p>
          <a:p>
            <a:pPr algn="just"/>
            <a:r>
              <a:rPr lang="en-US" sz="1600" dirty="0">
                <a:latin typeface="Times New Roman" panose="02020603050405020304" pitchFamily="18" charset="0"/>
                <a:cs typeface="Times New Roman" panose="02020603050405020304" pitchFamily="18" charset="0"/>
              </a:rPr>
              <a:t>In the validation dataset, the model accurately predicted 1022 no churn cases and 348 churn cases with 14 false positives and 27 false negatives.</a:t>
            </a:r>
          </a:p>
          <a:p>
            <a:r>
              <a:rPr lang="en-US" sz="1600" b="1" u="sng" dirty="0">
                <a:latin typeface="Times New Roman" panose="02020603050405020304" pitchFamily="18" charset="0"/>
                <a:cs typeface="Times New Roman" panose="02020603050405020304" pitchFamily="18" charset="0"/>
              </a:rPr>
              <a:t>MODEL COMAPIRSON OF NEURAL NETWORKS</a:t>
            </a:r>
          </a:p>
          <a:p>
            <a:pPr algn="just"/>
            <a:r>
              <a:rPr lang="en-US" sz="1600" dirty="0">
                <a:latin typeface="Times New Roman" panose="02020603050405020304" pitchFamily="18" charset="0"/>
                <a:cs typeface="Times New Roman" panose="02020603050405020304" pitchFamily="18" charset="0"/>
              </a:rPr>
              <a:t>We have compared the two neural networks using a model comparison node. Auto-neural was the optimal neural network model </a:t>
            </a:r>
            <a:r>
              <a:rPr lang="en-US" sz="1600" dirty="0">
                <a:highlight>
                  <a:srgbClr val="FFFF00"/>
                </a:highlight>
                <a:latin typeface="Times New Roman" panose="02020603050405020304" pitchFamily="18" charset="0"/>
                <a:cs typeface="Times New Roman" panose="02020603050405020304" pitchFamily="18" charset="0"/>
              </a:rPr>
              <a:t>with a low misclassification rate of 0.029.</a:t>
            </a:r>
          </a:p>
          <a:p>
            <a:endParaRPr lang="en-US" sz="1600" b="1" u="sng" dirty="0">
              <a:latin typeface="Times New Roman" panose="02020603050405020304" pitchFamily="18" charset="0"/>
              <a:cs typeface="Times New Roman" panose="02020603050405020304" pitchFamily="18" charset="0"/>
            </a:endParaRPr>
          </a:p>
        </p:txBody>
      </p:sp>
      <p:pic>
        <p:nvPicPr>
          <p:cNvPr id="5" name="Picture 4" descr="Human brain nerve cells">
            <a:extLst>
              <a:ext uri="{FF2B5EF4-FFF2-40B4-BE49-F238E27FC236}">
                <a16:creationId xmlns:a16="http://schemas.microsoft.com/office/drawing/2014/main" id="{1C536867-7FCA-66A4-D7B3-3C523D687AE7}"/>
              </a:ext>
            </a:extLst>
          </p:cNvPr>
          <p:cNvPicPr>
            <a:picLocks noChangeAspect="1"/>
          </p:cNvPicPr>
          <p:nvPr/>
        </p:nvPicPr>
        <p:blipFill>
          <a:blip r:embed="rId2"/>
          <a:srcRect l="24142" r="46106"/>
          <a:stretch/>
        </p:blipFill>
        <p:spPr>
          <a:xfrm>
            <a:off x="10198100" y="-5534"/>
            <a:ext cx="1993900" cy="6907984"/>
          </a:xfrm>
          <a:prstGeom prst="rect">
            <a:avLst/>
          </a:prstGeom>
        </p:spPr>
      </p:pic>
      <p:sp>
        <p:nvSpPr>
          <p:cNvPr id="50"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D6C4523-D34A-A29A-452E-CCD051DBE42E}"/>
              </a:ext>
            </a:extLst>
          </p:cNvPr>
          <p:cNvPicPr>
            <a:picLocks noChangeAspect="1"/>
          </p:cNvPicPr>
          <p:nvPr/>
        </p:nvPicPr>
        <p:blipFill>
          <a:blip r:embed="rId3"/>
          <a:stretch>
            <a:fillRect/>
          </a:stretch>
        </p:blipFill>
        <p:spPr>
          <a:xfrm>
            <a:off x="5863836" y="70202"/>
            <a:ext cx="3972315" cy="1892885"/>
          </a:xfrm>
          <a:prstGeom prst="rect">
            <a:avLst/>
          </a:prstGeom>
        </p:spPr>
      </p:pic>
      <p:sp>
        <p:nvSpPr>
          <p:cNvPr id="40" name="TextBox 39">
            <a:extLst>
              <a:ext uri="{FF2B5EF4-FFF2-40B4-BE49-F238E27FC236}">
                <a16:creationId xmlns:a16="http://schemas.microsoft.com/office/drawing/2014/main" id="{6C786F2A-80EC-4312-D717-E5A9680B5E05}"/>
              </a:ext>
            </a:extLst>
          </p:cNvPr>
          <p:cNvSpPr txBox="1"/>
          <p:nvPr/>
        </p:nvSpPr>
        <p:spPr>
          <a:xfrm>
            <a:off x="6082081" y="1953013"/>
            <a:ext cx="3883855"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 FOR NEURAL NETWORK</a:t>
            </a:r>
          </a:p>
        </p:txBody>
      </p:sp>
      <p:pic>
        <p:nvPicPr>
          <p:cNvPr id="43" name="Picture 42">
            <a:extLst>
              <a:ext uri="{FF2B5EF4-FFF2-40B4-BE49-F238E27FC236}">
                <a16:creationId xmlns:a16="http://schemas.microsoft.com/office/drawing/2014/main" id="{DA58CFF1-C476-8C73-12E1-94D22213C6FE}"/>
              </a:ext>
            </a:extLst>
          </p:cNvPr>
          <p:cNvPicPr>
            <a:picLocks noChangeAspect="1"/>
          </p:cNvPicPr>
          <p:nvPr/>
        </p:nvPicPr>
        <p:blipFill>
          <a:blip r:embed="rId4"/>
          <a:stretch>
            <a:fillRect/>
          </a:stretch>
        </p:blipFill>
        <p:spPr>
          <a:xfrm>
            <a:off x="5863835" y="2256949"/>
            <a:ext cx="3972315" cy="2017757"/>
          </a:xfrm>
          <a:prstGeom prst="rect">
            <a:avLst/>
          </a:prstGeom>
        </p:spPr>
      </p:pic>
      <p:sp>
        <p:nvSpPr>
          <p:cNvPr id="44" name="TextBox 43">
            <a:extLst>
              <a:ext uri="{FF2B5EF4-FFF2-40B4-BE49-F238E27FC236}">
                <a16:creationId xmlns:a16="http://schemas.microsoft.com/office/drawing/2014/main" id="{569F856C-A546-0686-84FD-E2C14EBA6797}"/>
              </a:ext>
            </a:extLst>
          </p:cNvPr>
          <p:cNvSpPr txBox="1"/>
          <p:nvPr/>
        </p:nvSpPr>
        <p:spPr>
          <a:xfrm>
            <a:off x="6561894" y="4264632"/>
            <a:ext cx="3636206"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CONFUSION MATRIX OF ANN</a:t>
            </a:r>
          </a:p>
        </p:txBody>
      </p:sp>
      <p:pic>
        <p:nvPicPr>
          <p:cNvPr id="51" name="Picture 50">
            <a:extLst>
              <a:ext uri="{FF2B5EF4-FFF2-40B4-BE49-F238E27FC236}">
                <a16:creationId xmlns:a16="http://schemas.microsoft.com/office/drawing/2014/main" id="{F83AD4F4-DA99-1F0E-0584-870A3A4A2AD2}"/>
              </a:ext>
            </a:extLst>
          </p:cNvPr>
          <p:cNvPicPr>
            <a:picLocks noChangeAspect="1"/>
          </p:cNvPicPr>
          <p:nvPr/>
        </p:nvPicPr>
        <p:blipFill>
          <a:blip r:embed="rId5"/>
          <a:stretch>
            <a:fillRect/>
          </a:stretch>
        </p:blipFill>
        <p:spPr>
          <a:xfrm>
            <a:off x="5863834" y="4484074"/>
            <a:ext cx="4102101" cy="1892884"/>
          </a:xfrm>
          <a:prstGeom prst="rect">
            <a:avLst/>
          </a:prstGeom>
        </p:spPr>
      </p:pic>
      <p:sp>
        <p:nvSpPr>
          <p:cNvPr id="52" name="TextBox 51">
            <a:extLst>
              <a:ext uri="{FF2B5EF4-FFF2-40B4-BE49-F238E27FC236}">
                <a16:creationId xmlns:a16="http://schemas.microsoft.com/office/drawing/2014/main" id="{3FA3939F-FA72-F3DC-805C-7DB356550F2E}"/>
              </a:ext>
            </a:extLst>
          </p:cNvPr>
          <p:cNvSpPr txBox="1"/>
          <p:nvPr/>
        </p:nvSpPr>
        <p:spPr>
          <a:xfrm>
            <a:off x="5997966" y="6421427"/>
            <a:ext cx="4035035"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MODEL COMPARISON OF NEURAL NETWORKS</a:t>
            </a:r>
          </a:p>
        </p:txBody>
      </p:sp>
    </p:spTree>
    <p:extLst>
      <p:ext uri="{BB962C8B-B14F-4D97-AF65-F5344CB8AC3E}">
        <p14:creationId xmlns:p14="http://schemas.microsoft.com/office/powerpoint/2010/main" val="2872941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63516C8-F227-4B77-9AA7-61B9A0B78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E6DF8D-56DB-AF47-1832-B292C2DAF7DD}"/>
              </a:ext>
            </a:extLst>
          </p:cNvPr>
          <p:cNvSpPr>
            <a:spLocks noGrp="1"/>
          </p:cNvSpPr>
          <p:nvPr>
            <p:ph type="title"/>
          </p:nvPr>
        </p:nvSpPr>
        <p:spPr>
          <a:xfrm>
            <a:off x="288076" y="2326151"/>
            <a:ext cx="8911687" cy="778589"/>
          </a:xfrm>
        </p:spPr>
        <p:txBody>
          <a:bodyPr anchor="b">
            <a:normAutofit/>
          </a:bodyPr>
          <a:lstStyle/>
          <a:p>
            <a:r>
              <a:rPr lang="en-US" sz="2800" b="1" dirty="0">
                <a:latin typeface="Times New Roman" panose="02020603050405020304" pitchFamily="18" charset="0"/>
                <a:cs typeface="Times New Roman" panose="02020603050405020304" pitchFamily="18" charset="0"/>
              </a:rPr>
              <a:t>OVERALL MODEL COMAPIRSON </a:t>
            </a:r>
          </a:p>
        </p:txBody>
      </p:sp>
      <p:sp>
        <p:nvSpPr>
          <p:cNvPr id="33" name="Rectangle 32">
            <a:extLst>
              <a:ext uri="{FF2B5EF4-FFF2-40B4-BE49-F238E27FC236}">
                <a16:creationId xmlns:a16="http://schemas.microsoft.com/office/drawing/2014/main" id="{D91B420C-C4C8-44DF-96B2-FBD101464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CE1D5E67-6F5F-6333-9F6D-90077E64E098}"/>
              </a:ext>
            </a:extLst>
          </p:cNvPr>
          <p:cNvPicPr>
            <a:picLocks noChangeAspect="1"/>
          </p:cNvPicPr>
          <p:nvPr/>
        </p:nvPicPr>
        <p:blipFill>
          <a:blip r:embed="rId3"/>
          <a:stretch>
            <a:fillRect/>
          </a:stretch>
        </p:blipFill>
        <p:spPr>
          <a:xfrm>
            <a:off x="288076" y="120711"/>
            <a:ext cx="10160289" cy="2230953"/>
          </a:xfrm>
          <a:prstGeom prst="rect">
            <a:avLst/>
          </a:prstGeom>
        </p:spPr>
      </p:pic>
      <p:sp>
        <p:nvSpPr>
          <p:cNvPr id="35" name="Freeform 33">
            <a:extLst>
              <a:ext uri="{FF2B5EF4-FFF2-40B4-BE49-F238E27FC236}">
                <a16:creationId xmlns:a16="http://schemas.microsoft.com/office/drawing/2014/main" id="{070928B1-3E69-44AC-A1EE-B4E4270A7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69172"/>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3" name="Content Placeholder 2">
            <a:extLst>
              <a:ext uri="{FF2B5EF4-FFF2-40B4-BE49-F238E27FC236}">
                <a16:creationId xmlns:a16="http://schemas.microsoft.com/office/drawing/2014/main" id="{498CED57-B0CC-9216-E2E6-D6876492BC99}"/>
              </a:ext>
            </a:extLst>
          </p:cNvPr>
          <p:cNvSpPr>
            <a:spLocks noGrp="1"/>
          </p:cNvSpPr>
          <p:nvPr>
            <p:ph idx="1"/>
          </p:nvPr>
        </p:nvSpPr>
        <p:spPr>
          <a:xfrm>
            <a:off x="1744652" y="3112815"/>
            <a:ext cx="6276519" cy="3543479"/>
          </a:xfrm>
        </p:spPr>
        <p:txBody>
          <a:bodyPr>
            <a:normAutofit/>
          </a:bodyPr>
          <a:lstStyle/>
          <a:p>
            <a:pPr algn="just"/>
            <a:r>
              <a:rPr lang="en-US" b="1" dirty="0"/>
              <a:t>Overall, in this project, we have developed multiple models like logistic regression, decision trees, random forest, neural networks to predict the customer churn. We have compared all these models using a model comparison node and the output of the model comparison node shows that Auto neural network effectively achieved the best model performance with a misclassification rate of 0.029 on the validation set, followed by the logistic regression model with 0.031 misclassification rate.</a:t>
            </a:r>
          </a:p>
        </p:txBody>
      </p:sp>
      <p:pic>
        <p:nvPicPr>
          <p:cNvPr id="4100" name="Picture 4" descr="Neural network - Free electronics icons">
            <a:extLst>
              <a:ext uri="{FF2B5EF4-FFF2-40B4-BE49-F238E27FC236}">
                <a16:creationId xmlns:a16="http://schemas.microsoft.com/office/drawing/2014/main" id="{ABC58EB8-A1D5-45F6-07E4-86F80078F5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4223" y="2632360"/>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Selection Good Ware Gradient icon | Freepik">
            <a:extLst>
              <a:ext uri="{FF2B5EF4-FFF2-40B4-BE49-F238E27FC236}">
                <a16:creationId xmlns:a16="http://schemas.microsoft.com/office/drawing/2014/main" id="{16BB7B7C-EAE6-814A-8BB4-2E3CF956B1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9341384">
            <a:off x="9265023" y="4735981"/>
            <a:ext cx="1385991" cy="138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470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83030214-227F-42DB-9282-BBA6AF8D9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5AC807-773B-0E98-C9C7-99B00BD9725A}"/>
              </a:ext>
            </a:extLst>
          </p:cNvPr>
          <p:cNvSpPr>
            <a:spLocks noGrp="1"/>
          </p:cNvSpPr>
          <p:nvPr>
            <p:ph type="title"/>
          </p:nvPr>
        </p:nvSpPr>
        <p:spPr>
          <a:xfrm>
            <a:off x="221876" y="85865"/>
            <a:ext cx="4092852" cy="603397"/>
          </a:xfrm>
        </p:spPr>
        <p:txBody>
          <a:bodyPr>
            <a:normAutofit fontScale="90000"/>
          </a:bodyPr>
          <a:lstStyle/>
          <a:p>
            <a:r>
              <a:rPr lang="en-US" b="1" dirty="0">
                <a:latin typeface="Times New Roman" panose="02020603050405020304" pitchFamily="18" charset="0"/>
                <a:cs typeface="Times New Roman" panose="02020603050405020304" pitchFamily="18" charset="0"/>
              </a:rPr>
              <a:t>FINDINGS</a:t>
            </a:r>
          </a:p>
        </p:txBody>
      </p:sp>
      <p:sp>
        <p:nvSpPr>
          <p:cNvPr id="59" name="Freeform 11">
            <a:extLst>
              <a:ext uri="{FF2B5EF4-FFF2-40B4-BE49-F238E27FC236}">
                <a16:creationId xmlns:a16="http://schemas.microsoft.com/office/drawing/2014/main" id="{0D7A9289-BAD1-4A78-979F-A655C886D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1149203"/>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US"/>
          </a:p>
        </p:txBody>
      </p:sp>
      <p:sp>
        <p:nvSpPr>
          <p:cNvPr id="5" name="TextBox 4">
            <a:extLst>
              <a:ext uri="{FF2B5EF4-FFF2-40B4-BE49-F238E27FC236}">
                <a16:creationId xmlns:a16="http://schemas.microsoft.com/office/drawing/2014/main" id="{267A3F2C-E3F1-B392-6CA4-B80C6394EE8C}"/>
              </a:ext>
            </a:extLst>
          </p:cNvPr>
          <p:cNvSpPr txBox="1"/>
          <p:nvPr/>
        </p:nvSpPr>
        <p:spPr>
          <a:xfrm>
            <a:off x="221876" y="867334"/>
            <a:ext cx="11792511" cy="5755422"/>
          </a:xfrm>
          <a:prstGeom prst="rect">
            <a:avLst/>
          </a:prstGeom>
          <a:noFill/>
        </p:spPr>
        <p:txBody>
          <a:bodyPr wrap="square" rtlCol="0">
            <a:spAutoFit/>
          </a:bodyPr>
          <a:lstStyle/>
          <a:p>
            <a:r>
              <a:rPr lang="en-US" sz="1600" b="1" u="sng" dirty="0">
                <a:latin typeface="Times New Roman" panose="02020603050405020304" pitchFamily="18" charset="0"/>
                <a:cs typeface="Times New Roman" panose="02020603050405020304" pitchFamily="18" charset="0"/>
              </a:rPr>
              <a:t>LOGISTIC REGRESSION</a:t>
            </a:r>
          </a:p>
          <a:p>
            <a:r>
              <a:rPr lang="en-US" sz="1600" b="1" i="0" dirty="0">
                <a:effectLst/>
                <a:latin typeface="Times New Roman" panose="02020603050405020304" pitchFamily="18" charset="0"/>
                <a:cs typeface="Times New Roman" panose="02020603050405020304" pitchFamily="18" charset="0"/>
              </a:rPr>
              <a:t>Type of Contract: </a:t>
            </a:r>
            <a:r>
              <a:rPr lang="en-US" sz="1600" b="0" i="0" dirty="0">
                <a:effectLst/>
                <a:latin typeface="Times New Roman" panose="02020603050405020304" pitchFamily="18" charset="0"/>
                <a:cs typeface="Times New Roman" panose="02020603050405020304" pitchFamily="18" charset="0"/>
              </a:rPr>
              <a:t>Month-to-month customers are six times more likely to churn as compared to two-year customers, so the inference is that length of contract bears much influence on churn likeliness.</a:t>
            </a:r>
            <a:br>
              <a:rPr lang="en-US" sz="1600" b="0" i="0" dirty="0">
                <a:effectLst/>
                <a:latin typeface="Times New Roman" panose="02020603050405020304" pitchFamily="18" charset="0"/>
                <a:cs typeface="Times New Roman" panose="02020603050405020304" pitchFamily="18" charset="0"/>
              </a:rPr>
            </a:br>
            <a:r>
              <a:rPr lang="en-US" sz="1600" b="1" i="0" dirty="0">
                <a:effectLst/>
                <a:latin typeface="Times New Roman" panose="02020603050405020304" pitchFamily="18" charset="0"/>
                <a:cs typeface="Times New Roman" panose="02020603050405020304" pitchFamily="18" charset="0"/>
              </a:rPr>
              <a:t>Referral Influence: </a:t>
            </a:r>
            <a:r>
              <a:rPr lang="en-US" sz="1600" b="0" i="0" dirty="0">
                <a:effectLst/>
                <a:latin typeface="Times New Roman" panose="02020603050405020304" pitchFamily="18" charset="0"/>
                <a:cs typeface="Times New Roman" panose="02020603050405020304" pitchFamily="18" charset="0"/>
              </a:rPr>
              <a:t>Customers who have referred a friend show lower churn rates, highlighting the positive effect of engagement and referral programs.</a:t>
            </a:r>
            <a:br>
              <a:rPr lang="en-US" sz="1600" b="0" i="0" dirty="0">
                <a:effectLst/>
                <a:latin typeface="Times New Roman" panose="02020603050405020304" pitchFamily="18" charset="0"/>
                <a:cs typeface="Times New Roman" panose="02020603050405020304" pitchFamily="18" charset="0"/>
              </a:rPr>
            </a:br>
            <a:r>
              <a:rPr lang="en-US" sz="1600" b="1" i="0" dirty="0">
                <a:effectLst/>
                <a:latin typeface="Times New Roman" panose="02020603050405020304" pitchFamily="18" charset="0"/>
                <a:cs typeface="Times New Roman" panose="02020603050405020304" pitchFamily="18" charset="0"/>
              </a:rPr>
              <a:t>Premium Technical Support: </a:t>
            </a:r>
            <a:r>
              <a:rPr lang="en-US" sz="1600" b="0" i="0" dirty="0">
                <a:effectLst/>
                <a:latin typeface="Times New Roman" panose="02020603050405020304" pitchFamily="18" charset="0"/>
                <a:cs typeface="Times New Roman" panose="02020603050405020304" pitchFamily="18" charset="0"/>
              </a:rPr>
              <a:t>In the absence of premium technical support, a greater rate of customers could churn, which indicates  for this service to be highly considered in customer retention.</a:t>
            </a:r>
          </a:p>
          <a:p>
            <a:endParaRPr lang="en-US" sz="1600" dirty="0">
              <a:latin typeface="Times New Roman" panose="02020603050405020304" pitchFamily="18" charset="0"/>
              <a:cs typeface="Times New Roman" panose="02020603050405020304" pitchFamily="18" charset="0"/>
            </a:endParaRPr>
          </a:p>
          <a:p>
            <a:r>
              <a:rPr lang="en-US" sz="1600" b="1" i="0" u="sng" dirty="0">
                <a:effectLst/>
                <a:latin typeface="Times New Roman" panose="02020603050405020304" pitchFamily="18" charset="0"/>
                <a:cs typeface="Times New Roman" panose="02020603050405020304" pitchFamily="18" charset="0"/>
              </a:rPr>
              <a:t>DECISION TREE AND RANDOM FOREST</a:t>
            </a:r>
          </a:p>
          <a:p>
            <a:pPr algn="just"/>
            <a:r>
              <a:rPr lang="en-US" sz="1600" b="1" i="0" dirty="0">
                <a:effectLst/>
                <a:latin typeface="Times New Roman" panose="02020603050405020304" pitchFamily="18" charset="0"/>
                <a:cs typeface="Times New Roman" panose="02020603050405020304" pitchFamily="18" charset="0"/>
              </a:rPr>
              <a:t>Satisfaction score: </a:t>
            </a:r>
            <a:r>
              <a:rPr lang="en-US" sz="1600" b="0" i="0" dirty="0">
                <a:effectLst/>
                <a:latin typeface="Times New Roman" panose="02020603050405020304" pitchFamily="18" charset="0"/>
                <a:cs typeface="Times New Roman" panose="02020603050405020304" pitchFamily="18" charset="0"/>
              </a:rPr>
              <a:t>The customers who have less than a 2.5 satisfaction score are 100% churn, hence proving that dissatisfaction with the service is one of the key predictors for customer churning. Solving problems of less satisfied customers can really make a huge difference in improving retention.</a:t>
            </a:r>
            <a:endParaRPr lang="en-US" sz="1600" b="1" i="0" u="sng" dirty="0">
              <a:effectLst/>
              <a:latin typeface="Times New Roman" panose="02020603050405020304" pitchFamily="18" charset="0"/>
              <a:cs typeface="Times New Roman" panose="02020603050405020304" pitchFamily="18" charset="0"/>
            </a:endParaRPr>
          </a:p>
          <a:p>
            <a:pPr algn="just"/>
            <a:r>
              <a:rPr lang="en-US" sz="1600" b="1" i="0" dirty="0">
                <a:effectLst/>
                <a:latin typeface="Times New Roman" panose="02020603050405020304" pitchFamily="18" charset="0"/>
                <a:cs typeface="Times New Roman" panose="02020603050405020304" pitchFamily="18" charset="0"/>
              </a:rPr>
              <a:t>Age Factor: </a:t>
            </a:r>
            <a:r>
              <a:rPr lang="en-US" sz="1600" b="0" i="0" dirty="0">
                <a:effectLst/>
                <a:latin typeface="Times New Roman" panose="02020603050405020304" pitchFamily="18" charset="0"/>
                <a:cs typeface="Times New Roman" panose="02020603050405020304" pitchFamily="18" charset="0"/>
              </a:rPr>
              <a:t>Younger customers, less than 65.5, tend to churn less than older customers. Thus, target retention efforts toward younger segments will make them stay longer. </a:t>
            </a:r>
          </a:p>
          <a:p>
            <a:endParaRPr lang="en-US" sz="1600" dirty="0">
              <a:latin typeface="Times New Roman" panose="02020603050405020304" pitchFamily="18" charset="0"/>
              <a:cs typeface="Times New Roman" panose="02020603050405020304" pitchFamily="18" charset="0"/>
            </a:endParaRPr>
          </a:p>
          <a:p>
            <a:r>
              <a:rPr lang="en-US" sz="1600" b="1" u="sng" dirty="0">
                <a:latin typeface="Times New Roman" panose="02020603050405020304" pitchFamily="18" charset="0"/>
                <a:cs typeface="Times New Roman" panose="02020603050405020304" pitchFamily="18" charset="0"/>
              </a:rPr>
              <a:t>NEURAL NETWORKS </a:t>
            </a:r>
          </a:p>
          <a:p>
            <a:r>
              <a:rPr lang="en-US" sz="1600" b="1" u="sng" dirty="0">
                <a:latin typeface="Times New Roman" panose="02020603050405020304" pitchFamily="18" charset="0"/>
                <a:cs typeface="Times New Roman" panose="02020603050405020304" pitchFamily="18" charset="0"/>
              </a:rPr>
              <a:t>Online security – </a:t>
            </a:r>
            <a:r>
              <a:rPr lang="en-US" sz="1600" b="0" i="0" dirty="0">
                <a:effectLst/>
                <a:latin typeface="Times New Roman" panose="02020603050405020304" pitchFamily="18" charset="0"/>
                <a:cs typeface="Times New Roman" panose="02020603050405020304" pitchFamily="18" charset="0"/>
              </a:rPr>
              <a:t>Online Security: It is likely that customers without online security would churn, and this means that online security service should be promoted as a valuable feature to customers.</a:t>
            </a:r>
            <a:endParaRPr lang="en-US" sz="1600" b="1" u="sng" dirty="0">
              <a:latin typeface="Times New Roman" panose="02020603050405020304" pitchFamily="18" charset="0"/>
              <a:cs typeface="Times New Roman" panose="02020603050405020304" pitchFamily="18" charset="0"/>
            </a:endParaRPr>
          </a:p>
          <a:p>
            <a:r>
              <a:rPr lang="en-US" sz="1600" b="1" i="0" dirty="0">
                <a:effectLst/>
                <a:latin typeface="Times New Roman" panose="02020603050405020304" pitchFamily="18" charset="0"/>
                <a:cs typeface="Times New Roman" panose="02020603050405020304" pitchFamily="18" charset="0"/>
              </a:rPr>
              <a:t>Dependents: </a:t>
            </a:r>
            <a:r>
              <a:rPr lang="en-US" sz="1600" b="0" i="0" dirty="0">
                <a:effectLst/>
                <a:latin typeface="Times New Roman" panose="02020603050405020304" pitchFamily="18" charset="0"/>
                <a:cs typeface="Times New Roman" panose="02020603050405020304" pitchFamily="18" charset="0"/>
              </a:rPr>
              <a:t>Customers that have dependents have a lower rate of churning, such as 25% for customers who have 1-1.5 referrals and dependents, which could mean that family-oriented offerings or services retain customers.</a:t>
            </a:r>
            <a:endParaRPr lang="en-US" sz="1600" b="1" i="0" u="sng" dirty="0">
              <a:effectLst/>
              <a:latin typeface="Times New Roman" panose="02020603050405020304" pitchFamily="18" charset="0"/>
              <a:cs typeface="Times New Roman" panose="02020603050405020304" pitchFamily="18" charset="0"/>
            </a:endParaRPr>
          </a:p>
          <a:p>
            <a:endParaRPr lang="en-US" sz="1600" b="1" u="sng" dirty="0">
              <a:latin typeface="Times New Roman" panose="02020603050405020304" pitchFamily="18" charset="0"/>
              <a:cs typeface="Times New Roman" panose="02020603050405020304" pitchFamily="18" charset="0"/>
            </a:endParaRPr>
          </a:p>
          <a:p>
            <a:endParaRPr lang="en-US" sz="1600" b="1" u="sng" dirty="0">
              <a:latin typeface="Times New Roman" panose="02020603050405020304" pitchFamily="18" charset="0"/>
              <a:cs typeface="Times New Roman" panose="02020603050405020304" pitchFamily="18" charset="0"/>
            </a:endParaRPr>
          </a:p>
          <a:p>
            <a:endParaRPr lang="en-US" sz="16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0398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A3BB4F-9FF0-886E-2814-04865E01B45A}"/>
              </a:ext>
            </a:extLst>
          </p:cNvPr>
          <p:cNvSpPr>
            <a:spLocks noGrp="1"/>
          </p:cNvSpPr>
          <p:nvPr>
            <p:ph type="title"/>
          </p:nvPr>
        </p:nvSpPr>
        <p:spPr>
          <a:xfrm>
            <a:off x="649225" y="109987"/>
            <a:ext cx="8717613" cy="802076"/>
          </a:xfrm>
        </p:spPr>
        <p:txBody>
          <a:bodyPr>
            <a:normAutofit/>
          </a:bodyPr>
          <a:lstStyle/>
          <a:p>
            <a:pPr>
              <a:lnSpc>
                <a:spcPct val="90000"/>
              </a:lnSpc>
            </a:pPr>
            <a:r>
              <a:rPr lang="en-US" sz="2500" b="1" dirty="0">
                <a:latin typeface="Times New Roman" panose="02020603050405020304" pitchFamily="18" charset="0"/>
                <a:cs typeface="Times New Roman" panose="02020603050405020304" pitchFamily="18" charset="0"/>
              </a:rPr>
              <a:t>MANAGERIAL OR BUSINESS RECOMMENDATIONS</a:t>
            </a:r>
          </a:p>
        </p:txBody>
      </p:sp>
      <p:sp>
        <p:nvSpPr>
          <p:cNvPr id="12" name="Rectangle 1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48059110-23CF-0E22-741C-261ED5DBF82E}"/>
              </a:ext>
            </a:extLst>
          </p:cNvPr>
          <p:cNvSpPr>
            <a:spLocks noGrp="1"/>
          </p:cNvSpPr>
          <p:nvPr>
            <p:ph idx="1"/>
          </p:nvPr>
        </p:nvSpPr>
        <p:spPr>
          <a:xfrm>
            <a:off x="649225" y="650383"/>
            <a:ext cx="8997052" cy="6027041"/>
          </a:xfrm>
        </p:spPr>
        <p:txBody>
          <a:bodyPr>
            <a:normAutofit/>
          </a:bodyPr>
          <a:lstStyle/>
          <a:p>
            <a:pPr algn="just"/>
            <a:r>
              <a:rPr lang="en-US" sz="1800" dirty="0">
                <a:latin typeface="Times New Roman" panose="02020603050405020304" pitchFamily="18" charset="0"/>
                <a:cs typeface="Times New Roman" panose="02020603050405020304" pitchFamily="18" charset="0"/>
              </a:rPr>
              <a:t>Focus on converting customers who are on monthly basis contract to one-year contract agreements, by offering incentives, discounts, free months or any added benefits program, which will improve customer retention</a:t>
            </a:r>
          </a:p>
          <a:p>
            <a:pPr algn="just"/>
            <a:r>
              <a:rPr lang="en-US" sz="1800" dirty="0">
                <a:latin typeface="Times New Roman" panose="02020603050405020304" pitchFamily="18" charset="0"/>
                <a:cs typeface="Times New Roman" panose="02020603050405020304" pitchFamily="18" charset="0"/>
              </a:rPr>
              <a:t>Analyzing customer behavior is hard as it is influenced by different life stages. Implementing better demographic driven strategies that target those individuals without any dependents by creating personalized offers might help reduce these customers to leave the company.</a:t>
            </a:r>
          </a:p>
          <a:p>
            <a:pPr algn="just"/>
            <a:r>
              <a:rPr lang="en-US" sz="1800" dirty="0">
                <a:latin typeface="Times New Roman" panose="02020603050405020304" pitchFamily="18" charset="0"/>
                <a:cs typeface="Times New Roman" panose="02020603050405020304" pitchFamily="18" charset="0"/>
              </a:rPr>
              <a:t>Promotions to reduce churn must be continuous, developing segmented promotions that target specific group of people with like mindset, especially for loyal customers, would make them feel valued and reduce churn.</a:t>
            </a:r>
          </a:p>
          <a:p>
            <a:pPr algn="just"/>
            <a:r>
              <a:rPr lang="en-US" sz="1800" dirty="0">
                <a:latin typeface="Times New Roman" panose="02020603050405020304" pitchFamily="18" charset="0"/>
                <a:cs typeface="Times New Roman" panose="02020603050405020304" pitchFamily="18" charset="0"/>
              </a:rPr>
              <a:t>Offering bundle services or using loyalty programs might also improve customer satisfaction which indirectly reduces customer churn.</a:t>
            </a:r>
          </a:p>
          <a:p>
            <a:pPr algn="just"/>
            <a:r>
              <a:rPr lang="en-US" sz="1800" dirty="0">
                <a:latin typeface="Times New Roman" panose="02020603050405020304" pitchFamily="18" charset="0"/>
                <a:cs typeface="Times New Roman" panose="02020603050405020304" pitchFamily="18" charset="0"/>
              </a:rPr>
              <a:t>Since early dissatisfaction can be a major reason for churn, creating strong onboarding experience with potential customers and following them up from time to time on their feedback would reduce churn and keep these individuals highly satisfied.</a:t>
            </a:r>
          </a:p>
          <a:p>
            <a:pPr algn="just"/>
            <a:r>
              <a:rPr lang="en-US" sz="1800" dirty="0">
                <a:latin typeface="Times New Roman" panose="02020603050405020304" pitchFamily="18" charset="0"/>
                <a:cs typeface="Times New Roman" panose="02020603050405020304" pitchFamily="18" charset="0"/>
              </a:rPr>
              <a:t>Customers place an extensive interest towards security or premium supports from any company. Offering these customers with a baseline or basic plan of these securities and technical support would make these customers valuable as they might tend to stay loyal to the company that provides the necessities.</a:t>
            </a:r>
          </a:p>
          <a:p>
            <a:endParaRPr lang="en-US" dirty="0"/>
          </a:p>
        </p:txBody>
      </p:sp>
      <p:pic>
        <p:nvPicPr>
          <p:cNvPr id="7" name="Graphic 6" descr="Meeting">
            <a:extLst>
              <a:ext uri="{FF2B5EF4-FFF2-40B4-BE49-F238E27FC236}">
                <a16:creationId xmlns:a16="http://schemas.microsoft.com/office/drawing/2014/main" id="{63D837D0-C46E-ABD1-DADA-BD76DE128A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79736" y="4748"/>
            <a:ext cx="2678805" cy="2678805"/>
          </a:xfrm>
          <a:prstGeom prst="rect">
            <a:avLst/>
          </a:prstGeom>
        </p:spPr>
      </p:pic>
      <p:sp>
        <p:nvSpPr>
          <p:cNvPr id="1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4923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0F3D18-37D8-08A6-9E7D-64555DCF2E9F}"/>
              </a:ext>
            </a:extLst>
          </p:cNvPr>
          <p:cNvSpPr>
            <a:spLocks noGrp="1"/>
          </p:cNvSpPr>
          <p:nvPr>
            <p:ph type="title"/>
          </p:nvPr>
        </p:nvSpPr>
        <p:spPr>
          <a:xfrm>
            <a:off x="649224" y="645106"/>
            <a:ext cx="3223529" cy="638128"/>
          </a:xfrm>
        </p:spPr>
        <p:txBody>
          <a:bodyPr>
            <a:normAutofit/>
          </a:bodyPr>
          <a:lstStyle/>
          <a:p>
            <a:r>
              <a:rPr lang="en-US" sz="3200" dirty="0">
                <a:latin typeface="Times New Roman" panose="02020603050405020304" pitchFamily="18" charset="0"/>
                <a:cs typeface="Times New Roman" panose="02020603050405020304" pitchFamily="18" charset="0"/>
              </a:rPr>
              <a:t>CONCLUSION</a:t>
            </a:r>
          </a:p>
        </p:txBody>
      </p:sp>
      <p:sp>
        <p:nvSpPr>
          <p:cNvPr id="12" name="Rectangle 1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EEED632-7BC0-A1C3-CB3C-F28467896102}"/>
              </a:ext>
            </a:extLst>
          </p:cNvPr>
          <p:cNvSpPr>
            <a:spLocks noGrp="1"/>
          </p:cNvSpPr>
          <p:nvPr>
            <p:ph idx="1"/>
          </p:nvPr>
        </p:nvSpPr>
        <p:spPr>
          <a:xfrm>
            <a:off x="526678" y="1989729"/>
            <a:ext cx="7812196" cy="3147098"/>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In this project, we explored different models that can effectively predict if a customer might leave or not. We have identified the factors that significantly influenced and determined customer churn. We have applied different classification models to observe which factors contributed towards customer churn the most and what variables are impacting them to leave. </a:t>
            </a:r>
          </a:p>
          <a:p>
            <a:r>
              <a:rPr lang="en-US" dirty="0">
                <a:solidFill>
                  <a:schemeClr val="tx1"/>
                </a:solidFill>
                <a:latin typeface="Times New Roman" panose="02020603050405020304" pitchFamily="18" charset="0"/>
                <a:cs typeface="Times New Roman" panose="02020603050405020304" pitchFamily="18" charset="0"/>
              </a:rPr>
              <a:t>Our best model is Auto-neural networks, that achieved the lowest misclassification rate of 0.029, which assures that customer who are at risk of leaving the company would be easily identified in the beginning and preventative measures would be taken to increase customer retention.</a:t>
            </a:r>
          </a:p>
        </p:txBody>
      </p:sp>
      <p:pic>
        <p:nvPicPr>
          <p:cNvPr id="7" name="Graphic 6" descr="Gavel">
            <a:extLst>
              <a:ext uri="{FF2B5EF4-FFF2-40B4-BE49-F238E27FC236}">
                <a16:creationId xmlns:a16="http://schemas.microsoft.com/office/drawing/2014/main" id="{7E22A315-E67A-EE7D-7997-4D8955178D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34091" y="132549"/>
            <a:ext cx="2463853" cy="2463853"/>
          </a:xfrm>
          <a:prstGeom prst="rect">
            <a:avLst/>
          </a:prstGeom>
        </p:spPr>
      </p:pic>
      <p:sp>
        <p:nvSpPr>
          <p:cNvPr id="1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17259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398</TotalTime>
  <Words>2578</Words>
  <Application>Microsoft Office PowerPoint</Application>
  <PresentationFormat>Widescreen</PresentationFormat>
  <Paragraphs>143</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Gothic</vt:lpstr>
      <vt:lpstr>Times New Roman</vt:lpstr>
      <vt:lpstr>Wingdings 3</vt:lpstr>
      <vt:lpstr>Wisp</vt:lpstr>
      <vt:lpstr>TELCO CUSTOMER CHURN PREDICITION AND CLASSIFICATION ANALYSIS IN SAS EM </vt:lpstr>
      <vt:lpstr>EXECUTIVE SUMMARY</vt:lpstr>
      <vt:lpstr>PROJECT MOTIVATION</vt:lpstr>
      <vt:lpstr>DATA DESCRIPTION  </vt:lpstr>
      <vt:lpstr>DATA PREPARATION</vt:lpstr>
      <vt:lpstr>PowerPoint Presentation</vt:lpstr>
      <vt:lpstr>DATA EXPLORATION</vt:lpstr>
      <vt:lpstr>MODELS USED – CLASSIFICATION ANALYSIS</vt:lpstr>
      <vt:lpstr>LOGISTIC REGRESSION</vt:lpstr>
      <vt:lpstr>DECISION TREES</vt:lpstr>
      <vt:lpstr>DECISION TREE - CONTINUED</vt:lpstr>
      <vt:lpstr>HP FOREST (RANDOM FOREST)</vt:lpstr>
      <vt:lpstr>NEURAL NETWORKS </vt:lpstr>
      <vt:lpstr>OVERALL MODEL COMAPIRSON </vt:lpstr>
      <vt:lpstr>FINDINGS</vt:lpstr>
      <vt:lpstr>MANAGERIAL OR BUSINESS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nidhi reddy palle</dc:creator>
  <cp:lastModifiedBy>Kadem Sangeeth</cp:lastModifiedBy>
  <cp:revision>1</cp:revision>
  <dcterms:created xsi:type="dcterms:W3CDTF">2024-11-11T21:14:16Z</dcterms:created>
  <dcterms:modified xsi:type="dcterms:W3CDTF">2025-12-19T00:08:44Z</dcterms:modified>
</cp:coreProperties>
</file>